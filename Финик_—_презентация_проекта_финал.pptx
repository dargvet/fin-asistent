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8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43C40B-13FD-4200-B318-6A4C4FE3DBD5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CD2E3-4C06-453C-9083-F08C8284CC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3923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Обложка: название проекта, ценность в одном предложении, команда и участники.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095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Проблема: одна конкретная проблема. Кто сталкивается, что происходит, почему это важно.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1762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Проблема: одна конкретная проблема. Кто сталкивается, что происходит, почему это важно.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322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Пользователь: конкретная ЦА, выбранный сегмент и контекст возникновения проблемы.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5812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Решение: что за продукт и как он решает проблему. Добавьте скриншот или схему.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1341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Ценность: 3–4 измеримые пользы. Только реальные данные.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7210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Ключевые возможности: 3–5 функций, нужных для решения проблемы.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7260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Killer feature: одна особенность, которую жюри должно запомнить.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85566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Как это работает: один пользовательский путь от ввода до следующего шага.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83388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Рабочий прототип: скриншоты MVP и что покажете вживую.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8656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Развитие: этапы после хакатона, сроки — ваши.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3642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Демо и итог: что покажете, главная мысль, ссылки и контакты.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D2E3-4C06-453C-9083-F08C8284CC64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7785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6E305C-18B6-7E00-3B5D-A4FD0D06C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2567583-AC7F-98D2-866C-56CEA1BDE5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8F5614-181C-D044-02A3-C2BE39165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B3438E-1A34-46F5-B5CF-CCFE10C1B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EE0F89-3AB9-30E1-49AF-A37AD193D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6594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BAF1F4-A727-1C45-3B64-D40802C4F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BBFB0E-D223-5021-7775-B006BB926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3AE310-4CBE-724F-F786-AFD12F479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4E3C85-665C-510D-FA28-E4B1949A1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297710-875B-5061-3DDC-527448E56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6241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9BDE8B-1CF8-6BF9-81A7-A98112EF8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7ED05F-8929-018E-1DFC-8FC8C6161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ED77BE-700E-356E-599B-56B30D73B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8E8FD8-C893-DB9C-650A-729979AE4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AC8EA9-06C3-BDF8-7C42-3A49F8F3F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55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964489-B1A9-984F-074F-CD844153E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8CCCDE-942A-455B-AF3D-6D027939E1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0DAAEFF-656C-3263-2290-96E0D8DB5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FDB474-6751-96FB-52B3-0F30EB150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BA0C64-CFD4-D141-4E51-E2AD453B1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48D041-DF94-D082-DF7A-889050533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6881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7F3EC-2FC5-AA48-B1B4-86D8832BC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8B901E-AE9A-667A-03F5-3F881849C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E52DC7F-30EC-2966-0C3A-013BD15AB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EC5E9BA-6252-95BE-0B0D-6C0B8A11E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0860277-2100-397C-9821-49B2EDFF05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B2A468C-875F-4445-CB92-93A929670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B0284B1-DF17-BB89-334E-CD3815CBE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5B94957-FC2C-8A8D-9561-D86254A37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5A095E-D55B-3424-6D58-6A04A90A6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4CE2FAD-FFDB-59AD-95FB-673BBD1ED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AFBB7B6-BDB8-0C68-B7DA-456280193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1CD6F6-D65F-43A5-8E83-B7B84900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0745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A66D885-A56B-0B8B-C537-662C8EC06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462A9FC-7FA6-FECC-D4BD-DD4A95139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0BA402-5960-35FE-A898-2C3623A1F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1674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7C581E-E972-4CCC-EF47-471611398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A25741-3055-87B6-956C-115D21104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D00B337-1B33-624C-0E4A-5BB23AFB6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C2ACF9-496B-0B21-49CE-7C566465A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30CF12-914A-D04D-0AC6-A9E84E046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A7594E-72A1-F2CF-8275-BF139E78B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1177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C87DF0-048F-0D16-4709-A8D940E7D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D9414BD-694D-B821-A34F-71AEFBFD28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DE5889-E568-6880-64F2-5C40A6A319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BF94E9-9729-16D2-8892-0D74303A1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D26B6D-45C5-ECC3-1199-02EE20FB5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08D26A-46BE-8496-502C-8496B7FD4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627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5B07F-A3B3-1C9E-5EA5-D76402741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1A48EA8-1667-66BD-F0CE-3F90725FB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9C5788-BB16-A6B5-9F93-B9857008D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198970-53E1-C079-427C-7C526192D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6CA188-641D-343D-15B2-1F0FF643A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1968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CF97BBB-BFAE-CBF1-8528-70CC1782DC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296A28C-B17B-E607-8E6D-4937AE9BAC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57172C-4C47-3DA4-5914-59386D34E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3B242A-AE74-A0C6-0442-C69E6062D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B74E61-0930-1A81-60FF-6D9D0425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7087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642B20-BE31-AF6C-2C9D-614456C52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6613A3-0AD0-0F08-6A40-91ACF78FC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8333F3-AE5F-A7E2-C8CA-3A7F18E62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87069C-5EB7-4872-A081-BE07F9D48B53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468CFE-C60D-CE22-031D-506F1959A2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C6BCC1-C359-0165-F531-CA225DA17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D1FC60-0A4C-4A19-8ADA-B8EF6A7348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9094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D798558-6B15-7D10-CE66-4697C62B8B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8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3" name="PixelHeart">
            <a:extLst>
              <a:ext uri="{FF2B5EF4-FFF2-40B4-BE49-F238E27FC236}">
                <a16:creationId xmlns:a16="http://schemas.microsoft.com/office/drawing/2014/main" id="{F5C8B72C-3AD7-6926-5AEC-C05CF0C33B5A}"/>
              </a:ext>
            </a:extLst>
          </p:cNvPr>
          <p:cNvGrpSpPr/>
          <p:nvPr/>
        </p:nvGrpSpPr>
        <p:grpSpPr>
          <a:xfrm>
            <a:off x="10033000" y="1905000"/>
            <a:ext cx="1155700" cy="977900"/>
            <a:chOff x="10033000" y="1905000"/>
            <a:chExt cx="1155700" cy="977900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1FA1CEAC-814B-AF91-570B-D6766736A7AB}"/>
                </a:ext>
              </a:extLst>
            </p:cNvPr>
            <p:cNvSpPr/>
            <p:nvPr/>
          </p:nvSpPr>
          <p:spPr>
            <a:xfrm>
              <a:off x="102108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EF8E8D76-80CE-C3B5-1EFA-6CD447A904D0}"/>
                </a:ext>
              </a:extLst>
            </p:cNvPr>
            <p:cNvSpPr/>
            <p:nvPr/>
          </p:nvSpPr>
          <p:spPr>
            <a:xfrm>
              <a:off x="102997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F1245EAC-1941-3FE8-01CE-EEF603530E59}"/>
                </a:ext>
              </a:extLst>
            </p:cNvPr>
            <p:cNvSpPr/>
            <p:nvPr/>
          </p:nvSpPr>
          <p:spPr>
            <a:xfrm>
              <a:off x="103886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18189630-6144-42B0-36A7-1C181D098375}"/>
                </a:ext>
              </a:extLst>
            </p:cNvPr>
            <p:cNvSpPr/>
            <p:nvPr/>
          </p:nvSpPr>
          <p:spPr>
            <a:xfrm>
              <a:off x="107442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F6D51848-8B4A-B5CA-F151-8F1116855262}"/>
                </a:ext>
              </a:extLst>
            </p:cNvPr>
            <p:cNvSpPr/>
            <p:nvPr/>
          </p:nvSpPr>
          <p:spPr>
            <a:xfrm>
              <a:off x="108331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D61E5F4B-1594-8BA9-2D71-5DFCDC779254}"/>
                </a:ext>
              </a:extLst>
            </p:cNvPr>
            <p:cNvSpPr/>
            <p:nvPr/>
          </p:nvSpPr>
          <p:spPr>
            <a:xfrm>
              <a:off x="10922000" y="1905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17ABEF9-5953-E769-13F2-FF8A50CFD467}"/>
                </a:ext>
              </a:extLst>
            </p:cNvPr>
            <p:cNvSpPr/>
            <p:nvPr/>
          </p:nvSpPr>
          <p:spPr>
            <a:xfrm>
              <a:off x="10121900" y="19939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91D3610A-31F2-1B47-FA1A-77F0A6E70DD5}"/>
                </a:ext>
              </a:extLst>
            </p:cNvPr>
            <p:cNvSpPr/>
            <p:nvPr/>
          </p:nvSpPr>
          <p:spPr>
            <a:xfrm>
              <a:off x="10477500" y="19939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7F5216EC-6B81-6A80-90E1-27667758B0A6}"/>
                </a:ext>
              </a:extLst>
            </p:cNvPr>
            <p:cNvSpPr/>
            <p:nvPr/>
          </p:nvSpPr>
          <p:spPr>
            <a:xfrm>
              <a:off x="10655300" y="19939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AC3D8D8D-2945-51A5-2238-627FEB5FAD56}"/>
                </a:ext>
              </a:extLst>
            </p:cNvPr>
            <p:cNvSpPr/>
            <p:nvPr/>
          </p:nvSpPr>
          <p:spPr>
            <a:xfrm>
              <a:off x="11010900" y="19939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682430AD-E22B-DBDA-1796-B8C685A46A1F}"/>
                </a:ext>
              </a:extLst>
            </p:cNvPr>
            <p:cNvSpPr/>
            <p:nvPr/>
          </p:nvSpPr>
          <p:spPr>
            <a:xfrm>
              <a:off x="10033000" y="20828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25CCEE16-614A-B946-A381-0F431296166B}"/>
                </a:ext>
              </a:extLst>
            </p:cNvPr>
            <p:cNvSpPr/>
            <p:nvPr/>
          </p:nvSpPr>
          <p:spPr>
            <a:xfrm>
              <a:off x="10566400" y="20828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AEABE84-F213-036B-9222-E3AFE7C3C1DA}"/>
                </a:ext>
              </a:extLst>
            </p:cNvPr>
            <p:cNvSpPr/>
            <p:nvPr/>
          </p:nvSpPr>
          <p:spPr>
            <a:xfrm>
              <a:off x="11099800" y="20828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BC178A37-7D81-B3EF-5F22-32422BBFA4D6}"/>
                </a:ext>
              </a:extLst>
            </p:cNvPr>
            <p:cNvSpPr/>
            <p:nvPr/>
          </p:nvSpPr>
          <p:spPr>
            <a:xfrm>
              <a:off x="10033000" y="21717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B5776D77-A9A4-12C6-265B-2BE2BC402BD9}"/>
                </a:ext>
              </a:extLst>
            </p:cNvPr>
            <p:cNvSpPr/>
            <p:nvPr/>
          </p:nvSpPr>
          <p:spPr>
            <a:xfrm>
              <a:off x="11099800" y="21717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39AD5CC5-4D2A-2B92-CF1D-C952643367BC}"/>
                </a:ext>
              </a:extLst>
            </p:cNvPr>
            <p:cNvSpPr/>
            <p:nvPr/>
          </p:nvSpPr>
          <p:spPr>
            <a:xfrm>
              <a:off x="10033000" y="22606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0C586510-8E90-5384-640D-AA17F0AF32F5}"/>
                </a:ext>
              </a:extLst>
            </p:cNvPr>
            <p:cNvSpPr/>
            <p:nvPr/>
          </p:nvSpPr>
          <p:spPr>
            <a:xfrm>
              <a:off x="11099800" y="22606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FBD3A775-A60D-3972-6324-973BF975DC07}"/>
                </a:ext>
              </a:extLst>
            </p:cNvPr>
            <p:cNvSpPr/>
            <p:nvPr/>
          </p:nvSpPr>
          <p:spPr>
            <a:xfrm>
              <a:off x="10121900" y="23495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9A4F7047-8026-440B-AE25-068CDC3DD338}"/>
                </a:ext>
              </a:extLst>
            </p:cNvPr>
            <p:cNvSpPr/>
            <p:nvPr/>
          </p:nvSpPr>
          <p:spPr>
            <a:xfrm>
              <a:off x="11010900" y="23495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18627609-2196-C575-F0E6-950DF9B3F6DD}"/>
                </a:ext>
              </a:extLst>
            </p:cNvPr>
            <p:cNvSpPr/>
            <p:nvPr/>
          </p:nvSpPr>
          <p:spPr>
            <a:xfrm>
              <a:off x="10210800" y="24384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613F1720-BEB7-0D69-8F1A-2343373AEB02}"/>
                </a:ext>
              </a:extLst>
            </p:cNvPr>
            <p:cNvSpPr/>
            <p:nvPr/>
          </p:nvSpPr>
          <p:spPr>
            <a:xfrm>
              <a:off x="10922000" y="24384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B7DFA7CC-29DC-91CF-20D2-1EF249E7D6DB}"/>
                </a:ext>
              </a:extLst>
            </p:cNvPr>
            <p:cNvSpPr/>
            <p:nvPr/>
          </p:nvSpPr>
          <p:spPr>
            <a:xfrm>
              <a:off x="10299700" y="25273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1348978D-58E8-3B0D-D3A6-E42FDD618FE6}"/>
                </a:ext>
              </a:extLst>
            </p:cNvPr>
            <p:cNvSpPr/>
            <p:nvPr/>
          </p:nvSpPr>
          <p:spPr>
            <a:xfrm>
              <a:off x="10833100" y="25273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620EAE5D-5139-E7D8-4C97-37F3B8612080}"/>
                </a:ext>
              </a:extLst>
            </p:cNvPr>
            <p:cNvSpPr/>
            <p:nvPr/>
          </p:nvSpPr>
          <p:spPr>
            <a:xfrm>
              <a:off x="10388600" y="26162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8B5957FB-B83B-C9C8-8841-1EAF6C3378B2}"/>
                </a:ext>
              </a:extLst>
            </p:cNvPr>
            <p:cNvSpPr/>
            <p:nvPr/>
          </p:nvSpPr>
          <p:spPr>
            <a:xfrm>
              <a:off x="10744200" y="26162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2CF85DA6-1D02-21D4-CD83-78005CA40D02}"/>
                </a:ext>
              </a:extLst>
            </p:cNvPr>
            <p:cNvSpPr/>
            <p:nvPr/>
          </p:nvSpPr>
          <p:spPr>
            <a:xfrm>
              <a:off x="10477500" y="27051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B43689A6-AB4E-27C1-E472-0307F5FA5877}"/>
                </a:ext>
              </a:extLst>
            </p:cNvPr>
            <p:cNvSpPr/>
            <p:nvPr/>
          </p:nvSpPr>
          <p:spPr>
            <a:xfrm>
              <a:off x="10655300" y="27051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8E3A6CD2-EBBE-ED52-926C-59C78F7B3F0B}"/>
                </a:ext>
              </a:extLst>
            </p:cNvPr>
            <p:cNvSpPr/>
            <p:nvPr/>
          </p:nvSpPr>
          <p:spPr>
            <a:xfrm>
              <a:off x="10566400" y="2794000"/>
              <a:ext cx="88900" cy="889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728B6187-F359-586D-75C2-AA32D67C8532}"/>
              </a:ext>
            </a:extLst>
          </p:cNvPr>
          <p:cNvSpPr txBox="1"/>
          <p:nvPr/>
        </p:nvSpPr>
        <p:spPr>
          <a:xfrm>
            <a:off x="609600" y="1625600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250" dirty="0">
                <a:solidFill>
                  <a:srgbClr val="FFFFFF"/>
                </a:solidFill>
                <a:latin typeface="Arial" panose="020B0604020202020204" pitchFamily="34" charset="0"/>
              </a:rPr>
              <a:t>СТАРТАП-ХАКАТОН 2026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972CC023-D9A1-9F97-7CFF-6F148DC343F1}"/>
              </a:ext>
            </a:extLst>
          </p:cNvPr>
          <p:cNvSpPr/>
          <p:nvPr/>
        </p:nvSpPr>
        <p:spPr>
          <a:xfrm>
            <a:off x="609600" y="1930400"/>
            <a:ext cx="3810000" cy="35560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051C4D-C2D3-218E-5D63-67C041D03B02}"/>
              </a:ext>
            </a:extLst>
          </p:cNvPr>
          <p:cNvSpPr txBox="1"/>
          <p:nvPr/>
        </p:nvSpPr>
        <p:spPr>
          <a:xfrm>
            <a:off x="812800" y="1993900"/>
            <a:ext cx="3683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050" b="1">
                <a:solidFill>
                  <a:srgbClr val="FFFFFF"/>
                </a:solidFill>
                <a:latin typeface="Arial" panose="020B0604020202020204" pitchFamily="34" charset="0"/>
              </a:rPr>
              <a:t>Акселерационная программа «Пятый элемент»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CF0412-5BC6-90F9-C73E-BF2F45C3AC0B}"/>
              </a:ext>
            </a:extLst>
          </p:cNvPr>
          <p:cNvSpPr txBox="1"/>
          <p:nvPr/>
        </p:nvSpPr>
        <p:spPr>
          <a:xfrm>
            <a:off x="609600" y="2590800"/>
            <a:ext cx="8890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4400" dirty="0">
                <a:solidFill>
                  <a:srgbClr val="FFFFFF"/>
                </a:solidFill>
                <a:latin typeface="Arial Black" panose="020B0A04020102020204" pitchFamily="34" charset="0"/>
              </a:rPr>
              <a:t>Финик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7EA6F9-5630-AF1F-E9DA-3DF5F5868B56}"/>
              </a:ext>
            </a:extLst>
          </p:cNvPr>
          <p:cNvSpPr txBox="1"/>
          <p:nvPr/>
        </p:nvSpPr>
        <p:spPr>
          <a:xfrm>
            <a:off x="609600" y="3454400"/>
            <a:ext cx="812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>
                <a:solidFill>
                  <a:srgbClr val="FFFFFF"/>
                </a:solidFill>
                <a:latin typeface="Arial" panose="020B0604020202020204" pitchFamily="34" charset="0"/>
              </a:rPr>
              <a:t>Telegram-бот, который считает бюджет студента и подсказывает выгодные промокоды точно к месту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3F9118C-15BA-1E8B-1E0A-45868046F99C}"/>
              </a:ext>
            </a:extLst>
          </p:cNvPr>
          <p:cNvSpPr txBox="1"/>
          <p:nvPr/>
        </p:nvSpPr>
        <p:spPr>
          <a:xfrm>
            <a:off x="609600" y="4394200"/>
            <a:ext cx="254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КОМАНДА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B1BE7A-32D5-3014-AC78-9EADA83AF651}"/>
              </a:ext>
            </a:extLst>
          </p:cNvPr>
          <p:cNvSpPr txBox="1"/>
          <p:nvPr/>
        </p:nvSpPr>
        <p:spPr>
          <a:xfrm>
            <a:off x="609600" y="4597400"/>
            <a:ext cx="3175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 b="1" dirty="0">
                <a:solidFill>
                  <a:srgbClr val="FFFFFF"/>
                </a:solidFill>
                <a:latin typeface="Arial" panose="020B0604020202020204" pitchFamily="34" charset="0"/>
              </a:rPr>
              <a:t>Тормозок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64D589-E2BB-51D1-B6F4-D7B45B50523D}"/>
              </a:ext>
            </a:extLst>
          </p:cNvPr>
          <p:cNvSpPr txBox="1"/>
          <p:nvPr/>
        </p:nvSpPr>
        <p:spPr>
          <a:xfrm>
            <a:off x="4064000" y="4394200"/>
            <a:ext cx="254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УЧАСТНИКИ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CDCE6C-E0FC-A3CF-BC0F-EDD61BBAEB1F}"/>
              </a:ext>
            </a:extLst>
          </p:cNvPr>
          <p:cNvSpPr txBox="1"/>
          <p:nvPr/>
        </p:nvSpPr>
        <p:spPr>
          <a:xfrm>
            <a:off x="4064000" y="4597400"/>
            <a:ext cx="7112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</a:rPr>
              <a:t>Арсений Николаев, Костенко Арина — Product &amp; системный анализ · Леонович Илья, Куликов Константин — Team </a:t>
            </a:r>
            <a:r>
              <a:rPr lang="ru-RU" sz="1200" dirty="0" err="1">
                <a:solidFill>
                  <a:srgbClr val="FFFFFF"/>
                </a:solidFill>
                <a:latin typeface="Arial" panose="020B0604020202020204" pitchFamily="34" charset="0"/>
              </a:rPr>
              <a:t>Lead</a:t>
            </a: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</a:rPr>
              <a:t> &amp; архитектор решения · Панков Максим — Алгоритмы и графы</a:t>
            </a: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C41C82AD-64B5-E9C4-943F-80C76694E532}"/>
              </a:ext>
            </a:extLst>
          </p:cNvPr>
          <p:cNvSpPr/>
          <p:nvPr/>
        </p:nvSpPr>
        <p:spPr>
          <a:xfrm>
            <a:off x="609600" y="5334000"/>
            <a:ext cx="10972800" cy="4318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9525" cap="flat" cmpd="sng" algn="ctr">
            <a:solidFill>
              <a:srgbClr val="FFFFFF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9640D3-21D1-D802-432F-9AC57A355420}"/>
              </a:ext>
            </a:extLst>
          </p:cNvPr>
          <p:cNvSpPr txBox="1"/>
          <p:nvPr/>
        </p:nvSpPr>
        <p:spPr>
          <a:xfrm>
            <a:off x="838200" y="54737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00">
                <a:solidFill>
                  <a:srgbClr val="FFFFFF"/>
                </a:solidFill>
                <a:latin typeface="Arial" panose="020B0604020202020204" pitchFamily="34" charset="0"/>
              </a:rPr>
              <a:t>ПРИМЕЧАНИЕ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F15BB7C-0290-285C-FFC1-987FC7EC766A}"/>
              </a:ext>
            </a:extLst>
          </p:cNvPr>
          <p:cNvSpPr txBox="1"/>
          <p:nvPr/>
        </p:nvSpPr>
        <p:spPr>
          <a:xfrm>
            <a:off x="2006600" y="5435600"/>
            <a:ext cx="9398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150">
                <a:solidFill>
                  <a:srgbClr val="FFFFFF"/>
                </a:solidFill>
                <a:latin typeface="Arial" panose="020B0604020202020204" pitchFamily="34" charset="0"/>
              </a:rPr>
              <a:t>Финик — карманный финансовый помощник для студентов в Telegram.</a:t>
            </a:r>
          </a:p>
        </p:txBody>
      </p: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0AC688F3-3A01-7D3D-4D1C-10A741D8271F}"/>
              </a:ext>
            </a:extLst>
          </p:cNvPr>
          <p:cNvCxnSpPr/>
          <p:nvPr/>
        </p:nvCxnSpPr>
        <p:spPr>
          <a:xfrm>
            <a:off x="609600" y="6070600"/>
            <a:ext cx="10972800" cy="0"/>
          </a:xfrm>
          <a:prstGeom prst="line">
            <a:avLst/>
          </a:prstGeom>
          <a:ln w="9525" cap="flat" cmpd="sng" algn="ctr">
            <a:solidFill>
              <a:srgbClr val="FFFFFF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CF0B3926-B1BC-713C-B406-97E6CEE1AB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62832"/>
            <a:ext cx="10045700" cy="104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30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142AC6-36E2-70D4-EF6D-C6CAA744E703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C39CE5-509C-B6D4-D694-018F30E11703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02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2699F8E6-E950-2849-B0B4-7F126F8DFA59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645EBB56-357A-5B5B-EAE6-54DF4B36C072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8464650-57A5-6038-3C19-ABD35C70CCED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1C33F275-B5A6-CD84-C8D6-43722379BC37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146BD27B-B30F-75D8-D038-BC482E3A83EE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BF987744-83E3-17B7-5EEE-1E7DC335CE03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170354A-5759-6C04-3499-FF17F45AC393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0D939AC5-A903-76D1-630F-41B6111A29F3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0E2B040C-3D7F-9BB7-77B0-0210652FB3FE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CDF23A4A-FF68-DBA0-96EE-84B0CD1B3E54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8B2958C7-31FD-1CF5-A78B-6ECEB1F410B5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458F7045-378E-1F99-012A-CDF218F43DAA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8A9FD4C9-8DBD-C8C7-5064-DC523830DF16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088EEC14-237A-E305-4088-2E6873D9C017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6419D5A1-D3DB-DCE4-4122-CA0665D4DB36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4A57463D-7DAA-FFD4-FD1B-F7D83518391C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80A296D2-2543-8641-CC43-CBA2AB99CE6E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4A95BCB7-F087-60F3-5F9D-F619AAFC957C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E7C3DD72-1D87-E672-A3F1-E76FC17459F9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53F78585-866D-0E02-FFDB-F256D11A6D5D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8F91DB89-B1E2-9D92-EC27-7BC49DDA966B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1382261-F42F-B719-73A8-CA774DFE20FA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B207365F-4DAF-5588-DA13-5F816DC9369A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F33CFB26-3610-C0AB-C4D3-534D50F6B34C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18F27330-18D8-4158-3E93-EA307EE2F0D6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225CCF48-A646-3FD2-154F-541E3C9D3C54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D980ECCD-BAE5-E230-01FA-29A01E625AF0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1F641627-78AE-C00B-8C2C-082FF5070B3C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22436800-F9A7-4F14-CA87-26B24A96ADA7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2367323-C7AB-F481-DC33-CFBAA3FE512F}"/>
              </a:ext>
            </a:extLst>
          </p:cNvPr>
          <p:cNvSpPr txBox="1"/>
          <p:nvPr/>
        </p:nvSpPr>
        <p:spPr>
          <a:xfrm>
            <a:off x="731520" y="65913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Команда</a:t>
            </a:r>
          </a:p>
        </p:txBody>
      </p:sp>
      <p:sp>
        <p:nvSpPr>
          <p:cNvPr id="55" name="Rounded Rectangle 4">
            <a:extLst>
              <a:ext uri="{FF2B5EF4-FFF2-40B4-BE49-F238E27FC236}">
                <a16:creationId xmlns:a16="http://schemas.microsoft.com/office/drawing/2014/main" id="{2F186326-B731-9168-F371-BF3804663E4A}"/>
              </a:ext>
            </a:extLst>
          </p:cNvPr>
          <p:cNvSpPr/>
          <p:nvPr/>
        </p:nvSpPr>
        <p:spPr>
          <a:xfrm>
            <a:off x="763802" y="3643730"/>
            <a:ext cx="1826710" cy="990414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0" name="TextBox 23">
            <a:extLst>
              <a:ext uri="{FF2B5EF4-FFF2-40B4-BE49-F238E27FC236}">
                <a16:creationId xmlns:a16="http://schemas.microsoft.com/office/drawing/2014/main" id="{5492D0FD-ADF4-6555-8BE1-1927DF97AE59}"/>
              </a:ext>
            </a:extLst>
          </p:cNvPr>
          <p:cNvSpPr txBox="1"/>
          <p:nvPr/>
        </p:nvSpPr>
        <p:spPr>
          <a:xfrm>
            <a:off x="806273" y="3784108"/>
            <a:ext cx="16821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500" b="1" dirty="0">
                <a:solidFill>
                  <a:srgbClr val="0F172A"/>
                </a:solidFill>
                <a:latin typeface="Plus Jakarta Sans"/>
              </a:rPr>
              <a:t>Арсений Николаев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61" name="TextBox 24">
            <a:extLst>
              <a:ext uri="{FF2B5EF4-FFF2-40B4-BE49-F238E27FC236}">
                <a16:creationId xmlns:a16="http://schemas.microsoft.com/office/drawing/2014/main" id="{0A2F35CE-A44C-382B-C9AC-C799AD41DB6B}"/>
              </a:ext>
            </a:extLst>
          </p:cNvPr>
          <p:cNvSpPr txBox="1"/>
          <p:nvPr/>
        </p:nvSpPr>
        <p:spPr>
          <a:xfrm>
            <a:off x="813671" y="4134600"/>
            <a:ext cx="17768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Product &amp; </a:t>
            </a:r>
            <a:r>
              <a:rPr sz="1200" b="0" i="0" u="none" dirty="0" err="1">
                <a:solidFill>
                  <a:srgbClr val="64748B"/>
                </a:solidFill>
                <a:latin typeface="Plus Jakarta Sans"/>
              </a:rPr>
              <a:t>Системный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Plus Jakarta Sans"/>
              </a:rPr>
              <a:t>анализ</a:t>
            </a:r>
            <a:endParaRPr sz="1200" b="0" i="0" u="none" dirty="0">
              <a:solidFill>
                <a:srgbClr val="64748B"/>
              </a:solidFill>
              <a:latin typeface="Plus Jakarta Sans"/>
            </a:endParaRPr>
          </a:p>
        </p:txBody>
      </p:sp>
      <p:pic>
        <p:nvPicPr>
          <p:cNvPr id="62" name="Picture 2">
            <a:extLst>
              <a:ext uri="{FF2B5EF4-FFF2-40B4-BE49-F238E27FC236}">
                <a16:creationId xmlns:a16="http://schemas.microsoft.com/office/drawing/2014/main" id="{0E1D1D13-5BB6-8F21-95D8-345C36B0E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63801" y="1653009"/>
            <a:ext cx="1826710" cy="182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2">
            <a:extLst>
              <a:ext uri="{FF2B5EF4-FFF2-40B4-BE49-F238E27FC236}">
                <a16:creationId xmlns:a16="http://schemas.microsoft.com/office/drawing/2014/main" id="{527F1BCD-5987-2354-238D-9E8EE19D7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972840" y="1653227"/>
            <a:ext cx="1826711" cy="1826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>
            <a:extLst>
              <a:ext uri="{FF2B5EF4-FFF2-40B4-BE49-F238E27FC236}">
                <a16:creationId xmlns:a16="http://schemas.microsoft.com/office/drawing/2014/main" id="{DA4582CB-C24E-C6B3-3965-9F7D42361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181880" y="1653858"/>
            <a:ext cx="1835950" cy="183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2">
            <a:extLst>
              <a:ext uri="{FF2B5EF4-FFF2-40B4-BE49-F238E27FC236}">
                <a16:creationId xmlns:a16="http://schemas.microsoft.com/office/drawing/2014/main" id="{2B8A5F3A-48EB-9F92-36F8-554E513D0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400159" y="1658536"/>
            <a:ext cx="1835950" cy="183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2" descr="Просмотрите 53 идей на доске «Смешные Макаки» и на тему ...">
            <a:extLst>
              <a:ext uri="{FF2B5EF4-FFF2-40B4-BE49-F238E27FC236}">
                <a16:creationId xmlns:a16="http://schemas.microsoft.com/office/drawing/2014/main" id="{9A1064FE-F11D-4B1C-99C4-EEDF590ED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5990" y="1651547"/>
            <a:ext cx="1826710" cy="1849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Rounded Rectangle 4">
            <a:extLst>
              <a:ext uri="{FF2B5EF4-FFF2-40B4-BE49-F238E27FC236}">
                <a16:creationId xmlns:a16="http://schemas.microsoft.com/office/drawing/2014/main" id="{442BA2F5-B135-4C2B-B10F-BE5E76EC1818}"/>
              </a:ext>
            </a:extLst>
          </p:cNvPr>
          <p:cNvSpPr/>
          <p:nvPr/>
        </p:nvSpPr>
        <p:spPr>
          <a:xfrm>
            <a:off x="2972840" y="3639393"/>
            <a:ext cx="1826710" cy="990414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9" name="TextBox 23">
            <a:extLst>
              <a:ext uri="{FF2B5EF4-FFF2-40B4-BE49-F238E27FC236}">
                <a16:creationId xmlns:a16="http://schemas.microsoft.com/office/drawing/2014/main" id="{C5F0C0CB-4937-4F8D-B1FD-B6DCD2C9B2E7}"/>
              </a:ext>
            </a:extLst>
          </p:cNvPr>
          <p:cNvSpPr txBox="1"/>
          <p:nvPr/>
        </p:nvSpPr>
        <p:spPr>
          <a:xfrm>
            <a:off x="3015311" y="3779771"/>
            <a:ext cx="16821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500" b="1" dirty="0">
                <a:solidFill>
                  <a:srgbClr val="0F172A"/>
                </a:solidFill>
                <a:latin typeface="Plus Jakarta Sans"/>
              </a:rPr>
              <a:t>Арина Костенко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70" name="TextBox 24">
            <a:extLst>
              <a:ext uri="{FF2B5EF4-FFF2-40B4-BE49-F238E27FC236}">
                <a16:creationId xmlns:a16="http://schemas.microsoft.com/office/drawing/2014/main" id="{4EDC8F71-AC80-412E-879D-A3B6A4330BDF}"/>
              </a:ext>
            </a:extLst>
          </p:cNvPr>
          <p:cNvSpPr txBox="1"/>
          <p:nvPr/>
        </p:nvSpPr>
        <p:spPr>
          <a:xfrm>
            <a:off x="3022709" y="4130263"/>
            <a:ext cx="17768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Product &amp; </a:t>
            </a:r>
            <a:r>
              <a:rPr sz="1200" b="0" i="0" u="none" dirty="0" err="1">
                <a:solidFill>
                  <a:srgbClr val="64748B"/>
                </a:solidFill>
                <a:latin typeface="Plus Jakarta Sans"/>
              </a:rPr>
              <a:t>Системный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Plus Jakarta Sans"/>
              </a:rPr>
              <a:t>анализ</a:t>
            </a:r>
            <a:endParaRPr sz="1200" b="0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71" name="Rounded Rectangle 4">
            <a:extLst>
              <a:ext uri="{FF2B5EF4-FFF2-40B4-BE49-F238E27FC236}">
                <a16:creationId xmlns:a16="http://schemas.microsoft.com/office/drawing/2014/main" id="{11FB7924-3B4C-4863-ABDD-49AED6F4A18F}"/>
              </a:ext>
            </a:extLst>
          </p:cNvPr>
          <p:cNvSpPr/>
          <p:nvPr/>
        </p:nvSpPr>
        <p:spPr>
          <a:xfrm>
            <a:off x="5181878" y="3660208"/>
            <a:ext cx="1826710" cy="990414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2" name="TextBox 23">
            <a:extLst>
              <a:ext uri="{FF2B5EF4-FFF2-40B4-BE49-F238E27FC236}">
                <a16:creationId xmlns:a16="http://schemas.microsoft.com/office/drawing/2014/main" id="{773C4AC2-9B0C-4C4A-8AEE-B7637146CDA2}"/>
              </a:ext>
            </a:extLst>
          </p:cNvPr>
          <p:cNvSpPr txBox="1"/>
          <p:nvPr/>
        </p:nvSpPr>
        <p:spPr>
          <a:xfrm>
            <a:off x="5224349" y="3800586"/>
            <a:ext cx="16821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500" b="1" dirty="0">
                <a:solidFill>
                  <a:srgbClr val="0F172A"/>
                </a:solidFill>
                <a:latin typeface="Plus Jakarta Sans"/>
              </a:rPr>
              <a:t>Илья Леонович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73" name="TextBox 24">
            <a:extLst>
              <a:ext uri="{FF2B5EF4-FFF2-40B4-BE49-F238E27FC236}">
                <a16:creationId xmlns:a16="http://schemas.microsoft.com/office/drawing/2014/main" id="{532FE1CB-32B6-485F-89E1-F05B0F52455F}"/>
              </a:ext>
            </a:extLst>
          </p:cNvPr>
          <p:cNvSpPr txBox="1"/>
          <p:nvPr/>
        </p:nvSpPr>
        <p:spPr>
          <a:xfrm>
            <a:off x="5231747" y="4151078"/>
            <a:ext cx="17768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b="0" i="0" u="none" dirty="0">
                <a:solidFill>
                  <a:srgbClr val="64748B"/>
                </a:solidFill>
                <a:latin typeface="Plus Jakarta Sans"/>
              </a:rPr>
              <a:t>Team Lead &amp; </a:t>
            </a:r>
            <a:r>
              <a:rPr lang="ru-RU" sz="1200" b="0" i="0" u="none" dirty="0">
                <a:solidFill>
                  <a:srgbClr val="64748B"/>
                </a:solidFill>
                <a:latin typeface="Plus Jakarta Sans"/>
              </a:rPr>
              <a:t>архитектор решения </a:t>
            </a:r>
          </a:p>
        </p:txBody>
      </p:sp>
      <p:sp>
        <p:nvSpPr>
          <p:cNvPr id="74" name="Rounded Rectangle 4">
            <a:extLst>
              <a:ext uri="{FF2B5EF4-FFF2-40B4-BE49-F238E27FC236}">
                <a16:creationId xmlns:a16="http://schemas.microsoft.com/office/drawing/2014/main" id="{D7F90884-F895-424B-A6C7-F2C5A5B7E796}"/>
              </a:ext>
            </a:extLst>
          </p:cNvPr>
          <p:cNvSpPr/>
          <p:nvPr/>
        </p:nvSpPr>
        <p:spPr>
          <a:xfrm>
            <a:off x="7409399" y="3637277"/>
            <a:ext cx="1826710" cy="990414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5" name="TextBox 23">
            <a:extLst>
              <a:ext uri="{FF2B5EF4-FFF2-40B4-BE49-F238E27FC236}">
                <a16:creationId xmlns:a16="http://schemas.microsoft.com/office/drawing/2014/main" id="{A7DA1E67-C82F-4C6F-8FF4-60A5A7152220}"/>
              </a:ext>
            </a:extLst>
          </p:cNvPr>
          <p:cNvSpPr txBox="1"/>
          <p:nvPr/>
        </p:nvSpPr>
        <p:spPr>
          <a:xfrm>
            <a:off x="7451870" y="3777655"/>
            <a:ext cx="16821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500" b="1" dirty="0">
                <a:solidFill>
                  <a:srgbClr val="0F172A"/>
                </a:solidFill>
                <a:latin typeface="Plus Jakarta Sans"/>
              </a:rPr>
              <a:t>Константин Куликов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76" name="TextBox 24">
            <a:extLst>
              <a:ext uri="{FF2B5EF4-FFF2-40B4-BE49-F238E27FC236}">
                <a16:creationId xmlns:a16="http://schemas.microsoft.com/office/drawing/2014/main" id="{E72AE7D1-A62E-4DC0-8CCF-18F2CA711304}"/>
              </a:ext>
            </a:extLst>
          </p:cNvPr>
          <p:cNvSpPr txBox="1"/>
          <p:nvPr/>
        </p:nvSpPr>
        <p:spPr>
          <a:xfrm>
            <a:off x="7459268" y="4128147"/>
            <a:ext cx="17768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b="0" i="0" u="none" dirty="0">
                <a:solidFill>
                  <a:srgbClr val="64748B"/>
                </a:solidFill>
                <a:latin typeface="Plus Jakarta Sans"/>
              </a:rPr>
              <a:t>Team Lead &amp; </a:t>
            </a:r>
            <a:r>
              <a:rPr lang="ru-RU" sz="1200" b="0" i="0" u="none" dirty="0">
                <a:solidFill>
                  <a:srgbClr val="64748B"/>
                </a:solidFill>
                <a:latin typeface="Plus Jakarta Sans"/>
              </a:rPr>
              <a:t>архитектор решения </a:t>
            </a:r>
            <a:endParaRPr sz="1200" b="0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77" name="Rounded Rectangle 4">
            <a:extLst>
              <a:ext uri="{FF2B5EF4-FFF2-40B4-BE49-F238E27FC236}">
                <a16:creationId xmlns:a16="http://schemas.microsoft.com/office/drawing/2014/main" id="{EF9DC1F9-5747-4DDF-B2D5-9C632A97D37F}"/>
              </a:ext>
            </a:extLst>
          </p:cNvPr>
          <p:cNvSpPr/>
          <p:nvPr/>
        </p:nvSpPr>
        <p:spPr>
          <a:xfrm>
            <a:off x="9599954" y="3632940"/>
            <a:ext cx="1826710" cy="990414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8" name="TextBox 23">
            <a:extLst>
              <a:ext uri="{FF2B5EF4-FFF2-40B4-BE49-F238E27FC236}">
                <a16:creationId xmlns:a16="http://schemas.microsoft.com/office/drawing/2014/main" id="{F05DAB1F-69E9-46CF-839E-EE0C7D3A6624}"/>
              </a:ext>
            </a:extLst>
          </p:cNvPr>
          <p:cNvSpPr txBox="1"/>
          <p:nvPr/>
        </p:nvSpPr>
        <p:spPr>
          <a:xfrm>
            <a:off x="9642425" y="3773318"/>
            <a:ext cx="16821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500" b="1" dirty="0">
                <a:solidFill>
                  <a:srgbClr val="0F172A"/>
                </a:solidFill>
                <a:latin typeface="Plus Jakarta Sans"/>
              </a:rPr>
              <a:t>Максим Панков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79" name="TextBox 24">
            <a:extLst>
              <a:ext uri="{FF2B5EF4-FFF2-40B4-BE49-F238E27FC236}">
                <a16:creationId xmlns:a16="http://schemas.microsoft.com/office/drawing/2014/main" id="{A1293754-F0DE-4786-BCA0-711AD1FE564B}"/>
              </a:ext>
            </a:extLst>
          </p:cNvPr>
          <p:cNvSpPr txBox="1"/>
          <p:nvPr/>
        </p:nvSpPr>
        <p:spPr>
          <a:xfrm>
            <a:off x="9649823" y="4123810"/>
            <a:ext cx="17768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200" dirty="0">
                <a:solidFill>
                  <a:srgbClr val="64748B"/>
                </a:solidFill>
                <a:latin typeface="Plus Jakarta Sans"/>
              </a:rPr>
              <a:t>Алгоритмы и графы</a:t>
            </a:r>
            <a:endParaRPr sz="1200" b="0" i="0" u="none" dirty="0">
              <a:solidFill>
                <a:srgbClr val="64748B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070070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142AC6-36E2-70D4-EF6D-C6CAA744E703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C39CE5-509C-B6D4-D694-018F30E11703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03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2699F8E6-E950-2849-B0B4-7F126F8DFA59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645EBB56-357A-5B5B-EAE6-54DF4B36C072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8464650-57A5-6038-3C19-ABD35C70CCED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1C33F275-B5A6-CD84-C8D6-43722379BC37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146BD27B-B30F-75D8-D038-BC482E3A83EE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BF987744-83E3-17B7-5EEE-1E7DC335CE03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170354A-5759-6C04-3499-FF17F45AC393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0D939AC5-A903-76D1-630F-41B6111A29F3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0E2B040C-3D7F-9BB7-77B0-0210652FB3FE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CDF23A4A-FF68-DBA0-96EE-84B0CD1B3E54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8B2958C7-31FD-1CF5-A78B-6ECEB1F410B5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458F7045-378E-1F99-012A-CDF218F43DAA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8A9FD4C9-8DBD-C8C7-5064-DC523830DF16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088EEC14-237A-E305-4088-2E6873D9C017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6419D5A1-D3DB-DCE4-4122-CA0665D4DB36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4A57463D-7DAA-FFD4-FD1B-F7D83518391C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80A296D2-2543-8641-CC43-CBA2AB99CE6E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4A95BCB7-F087-60F3-5F9D-F619AAFC957C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E7C3DD72-1D87-E672-A3F1-E76FC17459F9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53F78585-866D-0E02-FFDB-F256D11A6D5D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8F91DB89-B1E2-9D92-EC27-7BC49DDA966B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1382261-F42F-B719-73A8-CA774DFE20FA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B207365F-4DAF-5588-DA13-5F816DC9369A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F33CFB26-3610-C0AB-C4D3-534D50F6B34C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18F27330-18D8-4158-3E93-EA307EE2F0D6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225CCF48-A646-3FD2-154F-541E3C9D3C54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D980ECCD-BAE5-E230-01FA-29A01E625AF0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1F641627-78AE-C00B-8C2C-082FF5070B3C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22436800-F9A7-4F14-CA87-26B24A96ADA7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2367323-C7AB-F481-DC33-CFBAA3FE512F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Проблема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F9379CB4-CC7E-4EFF-1243-CDFEF0CC1009}"/>
              </a:ext>
            </a:extLst>
          </p:cNvPr>
          <p:cNvSpPr/>
          <p:nvPr/>
        </p:nvSpPr>
        <p:spPr>
          <a:xfrm>
            <a:off x="609600" y="1320800"/>
            <a:ext cx="10972800" cy="1219200"/>
          </a:xfrm>
          <a:prstGeom prst="roundRect">
            <a:avLst>
              <a:gd name="adj" fmla="val 12000"/>
            </a:avLst>
          </a:prstGeom>
          <a:solidFill>
            <a:srgbClr val="0F1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2355CD-76F6-2B0B-F764-A753395F9BBF}"/>
              </a:ext>
            </a:extLst>
          </p:cNvPr>
          <p:cNvSpPr txBox="1"/>
          <p:nvPr/>
        </p:nvSpPr>
        <p:spPr>
          <a:xfrm>
            <a:off x="914400" y="1498600"/>
            <a:ext cx="254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7FE3C4"/>
                </a:solidFill>
                <a:latin typeface="Arial" panose="020B0604020202020204" pitchFamily="34" charset="0"/>
              </a:rPr>
              <a:t>ГЛАВНАЯ ПРОБЛЕМА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60AB8A-4721-6C80-8320-2DAF3DF2FB18}"/>
              </a:ext>
            </a:extLst>
          </p:cNvPr>
          <p:cNvSpPr txBox="1"/>
          <p:nvPr/>
        </p:nvSpPr>
        <p:spPr>
          <a:xfrm>
            <a:off x="914400" y="1727200"/>
            <a:ext cx="103632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000" b="1">
                <a:solidFill>
                  <a:srgbClr val="FFFFFF"/>
                </a:solidFill>
                <a:latin typeface="Arial" panose="020B0604020202020204" pitchFamily="34" charset="0"/>
              </a:rPr>
              <a:t>Студенты тратят стипендию и подработку бесконтрольно и не понимают, куда уходят деньги — финансовую грамотность в вузе не преподают</a:t>
            </a: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95FE0FDC-E5FA-1DA0-A072-601F577D9C4E}"/>
              </a:ext>
            </a:extLst>
          </p:cNvPr>
          <p:cNvSpPr/>
          <p:nvPr/>
        </p:nvSpPr>
        <p:spPr>
          <a:xfrm>
            <a:off x="609600" y="2794000"/>
            <a:ext cx="3521710" cy="2971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19959E8F-44EF-9D71-59A2-88ECA96F6163}"/>
              </a:ext>
            </a:extLst>
          </p:cNvPr>
          <p:cNvSpPr/>
          <p:nvPr/>
        </p:nvSpPr>
        <p:spPr>
          <a:xfrm>
            <a:off x="863600" y="30480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CE03E8-EF9F-50BD-2D87-AC6E79E36716}"/>
              </a:ext>
            </a:extLst>
          </p:cNvPr>
          <p:cNvSpPr txBox="1"/>
          <p:nvPr/>
        </p:nvSpPr>
        <p:spPr>
          <a:xfrm>
            <a:off x="863600" y="358140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>
                <a:solidFill>
                  <a:srgbClr val="22A889"/>
                </a:solidFill>
                <a:latin typeface="Arial" panose="020B0604020202020204" pitchFamily="34" charset="0"/>
              </a:rPr>
              <a:t>КТО?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4DCEA2-6731-B78E-231A-47649E58B130}"/>
              </a:ext>
            </a:extLst>
          </p:cNvPr>
          <p:cNvSpPr txBox="1"/>
          <p:nvPr/>
        </p:nvSpPr>
        <p:spPr>
          <a:xfrm>
            <a:off x="863600" y="3886200"/>
            <a:ext cx="30137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>
                <a:solidFill>
                  <a:srgbClr val="0F1B3D"/>
                </a:solidFill>
                <a:latin typeface="Arial" panose="020B0604020202020204" pitchFamily="34" charset="0"/>
              </a:rPr>
              <a:t>Студенты 18–23 лет, живущие на стипендию и случайные подработки</a:t>
            </a: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8D97D51E-E4E2-AF70-D55A-9FE318658D4A}"/>
              </a:ext>
            </a:extLst>
          </p:cNvPr>
          <p:cNvSpPr/>
          <p:nvPr/>
        </p:nvSpPr>
        <p:spPr>
          <a:xfrm>
            <a:off x="4334510" y="2794000"/>
            <a:ext cx="3521710" cy="2971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7AC1118F-0CDC-DD46-94EA-A99AE1146161}"/>
              </a:ext>
            </a:extLst>
          </p:cNvPr>
          <p:cNvSpPr/>
          <p:nvPr/>
        </p:nvSpPr>
        <p:spPr>
          <a:xfrm>
            <a:off x="4588510" y="30480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229335-D9FD-65E0-03BA-FE7DADF9D87F}"/>
              </a:ext>
            </a:extLst>
          </p:cNvPr>
          <p:cNvSpPr txBox="1"/>
          <p:nvPr/>
        </p:nvSpPr>
        <p:spPr>
          <a:xfrm>
            <a:off x="4588510" y="358140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>
                <a:solidFill>
                  <a:srgbClr val="22A889"/>
                </a:solidFill>
                <a:latin typeface="Arial" panose="020B0604020202020204" pitchFamily="34" charset="0"/>
              </a:rPr>
              <a:t>ЧТО ПРОИСХОДИТ?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22CC22-D574-5FC4-E14D-44447AC146B5}"/>
              </a:ext>
            </a:extLst>
          </p:cNvPr>
          <p:cNvSpPr txBox="1"/>
          <p:nvPr/>
        </p:nvSpPr>
        <p:spPr>
          <a:xfrm>
            <a:off x="4588510" y="3886200"/>
            <a:ext cx="30137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>
                <a:solidFill>
                  <a:srgbClr val="0F1B3D"/>
                </a:solidFill>
                <a:latin typeface="Arial" panose="020B0604020202020204" pitchFamily="34" charset="0"/>
              </a:rPr>
              <a:t>Траты не фиксируются нигде: бюджет никто не ведёт, деньги расходятся на мелкие незапланированные покупки</a:t>
            </a:r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2184B6B5-01CE-EBC9-F489-ADC3ABDB42ED}"/>
              </a:ext>
            </a:extLst>
          </p:cNvPr>
          <p:cNvSpPr/>
          <p:nvPr/>
        </p:nvSpPr>
        <p:spPr>
          <a:xfrm>
            <a:off x="8059420" y="2794000"/>
            <a:ext cx="3521710" cy="2971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FD0B530A-1A02-2574-E468-35B6C7E93FB3}"/>
              </a:ext>
            </a:extLst>
          </p:cNvPr>
          <p:cNvSpPr/>
          <p:nvPr/>
        </p:nvSpPr>
        <p:spPr>
          <a:xfrm>
            <a:off x="8313420" y="30480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82C76D2-87C6-94CA-DD3C-C594F3B9D8D3}"/>
              </a:ext>
            </a:extLst>
          </p:cNvPr>
          <p:cNvSpPr txBox="1"/>
          <p:nvPr/>
        </p:nvSpPr>
        <p:spPr>
          <a:xfrm>
            <a:off x="8313420" y="358140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>
                <a:solidFill>
                  <a:srgbClr val="22A889"/>
                </a:solidFill>
                <a:latin typeface="Arial" panose="020B0604020202020204" pitchFamily="34" charset="0"/>
              </a:rPr>
              <a:t>ПОЧЕМУ ЭТО ВАЖНО?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C203677-9668-42BA-013B-8EFB8A91822B}"/>
              </a:ext>
            </a:extLst>
          </p:cNvPr>
          <p:cNvSpPr txBox="1"/>
          <p:nvPr/>
        </p:nvSpPr>
        <p:spPr>
          <a:xfrm>
            <a:off x="8313420" y="3886200"/>
            <a:ext cx="30137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>
                <a:solidFill>
                  <a:srgbClr val="0F1B3D"/>
                </a:solidFill>
                <a:latin typeface="Arial" panose="020B0604020202020204" pitchFamily="34" charset="0"/>
              </a:rPr>
              <a:t>К концу месяца не хватает на необходимое, студенты уходят в микрозаймы — привычка жить без плана закрепляется на всю жизнь</a:t>
            </a:r>
          </a:p>
        </p:txBody>
      </p: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68641674-9305-5B42-D751-D880F4C2207C}"/>
              </a:ext>
            </a:extLst>
          </p:cNvPr>
          <p:cNvSpPr/>
          <p:nvPr/>
        </p:nvSpPr>
        <p:spPr>
          <a:xfrm>
            <a:off x="609600" y="6019800"/>
            <a:ext cx="10972800" cy="48260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BD000B-552E-4E7A-CED1-5AE0AAD01399}"/>
              </a:ext>
            </a:extLst>
          </p:cNvPr>
          <p:cNvSpPr txBox="1"/>
          <p:nvPr/>
        </p:nvSpPr>
        <p:spPr>
          <a:xfrm>
            <a:off x="838200" y="61722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00">
                <a:solidFill>
                  <a:srgbClr val="22A889"/>
                </a:solidFill>
                <a:latin typeface="Arial" panose="020B0604020202020204" pitchFamily="34" charset="0"/>
              </a:rPr>
              <a:t>ПРИМЕЧАНИЕ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C763791-7474-0B46-B1B8-BD9992AE493E}"/>
              </a:ext>
            </a:extLst>
          </p:cNvPr>
          <p:cNvSpPr txBox="1"/>
          <p:nvPr/>
        </p:nvSpPr>
        <p:spPr>
          <a:xfrm>
            <a:off x="2006600" y="6134100"/>
            <a:ext cx="9398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150">
                <a:solidFill>
                  <a:srgbClr val="35425F"/>
                </a:solidFill>
                <a:latin typeface="Arial" panose="020B0604020202020204" pitchFamily="34" charset="0"/>
              </a:rPr>
              <a:t>Источник: Яндекс.Wordstat, запрос «куда уходят деньги» — 9–11 тыс. показов/мес, сен 2024 – авг 2026.</a:t>
            </a:r>
          </a:p>
        </p:txBody>
      </p:sp>
    </p:spTree>
    <p:extLst>
      <p:ext uri="{BB962C8B-B14F-4D97-AF65-F5344CB8AC3E}">
        <p14:creationId xmlns:p14="http://schemas.microsoft.com/office/powerpoint/2010/main" val="823398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D7E102-3B36-75D6-C951-5BD09A21FF92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C6818B-48E9-D250-EB7F-8E42B2452484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04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F56B247D-FF20-5A24-8CB1-550DA9BC0029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0361991E-6A1F-D7A4-F342-F73157C707E7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9E4CE54-FFF6-A969-E9B7-9B4191403C95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6E64657D-D2A1-AC5C-802A-698B9F6A7256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4CF97B05-DAC9-B61C-B394-D46CAB720992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38F21BAF-0531-CC27-610E-A88E52B080DA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FEF228FD-634B-A71A-6C7F-040F622A9EB1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82FF8834-AC51-783B-F4EE-4B7ED1685F88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75657C1A-A19C-8442-2DF2-C0459A665C62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B9DD9CD7-FA6E-9B7D-B5FB-6F4440A3B69B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D9FCF398-0DA1-06A1-99C6-A118DBC767EF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2042711D-C84D-271D-0782-0139C41E5BD5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FB47B9B6-8D31-2105-9375-AF83D4BDDE67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7876DE32-1E85-27A7-8432-1E022F1AC276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6C9D4CC-EB52-68CA-6027-D9BA6C659291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A3EA97F5-9416-1D12-093A-E48367F45EE3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C3CD0466-70EE-7302-F3A8-A98CCEB0C227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396D4264-7F21-BE89-589F-2CCF2AD9F9E4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1077BB96-9250-7E3A-60D3-D5469B8CED58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B11507E5-1367-063F-3FB7-579C36B01586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B38DA347-9E40-78BF-3146-EC62CD51A093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11742702-C865-2982-9428-433CD15D886C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59AA0890-1B5F-5A6F-2A35-47F9C431F15F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F2E6DB67-44A6-88BB-218C-BDCCE0B584E5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692E34B9-24A9-424F-FB8D-A398D0B158D2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125126ED-7BE8-6B7F-7D71-7DC635CBDDFB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A083EEE3-30A0-B936-95FC-0E80BC47DBBC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F1D36EB8-6D8B-59C0-D2BE-912333CB3546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61514C11-7344-35B2-746D-5912F3751BBF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04BDA61-6CA5-F8A3-E4B4-3D04231048ED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Пользователь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46F126BF-6094-BB27-B39D-44322CB91499}"/>
              </a:ext>
            </a:extLst>
          </p:cNvPr>
          <p:cNvSpPr/>
          <p:nvPr/>
        </p:nvSpPr>
        <p:spPr>
          <a:xfrm>
            <a:off x="609600" y="1320800"/>
            <a:ext cx="3810000" cy="44450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64" name="PixelHeart">
            <a:extLst>
              <a:ext uri="{FF2B5EF4-FFF2-40B4-BE49-F238E27FC236}">
                <a16:creationId xmlns:a16="http://schemas.microsoft.com/office/drawing/2014/main" id="{F5FDC6D4-86B7-C691-C6D0-743D000AA0A5}"/>
              </a:ext>
            </a:extLst>
          </p:cNvPr>
          <p:cNvGrpSpPr/>
          <p:nvPr/>
        </p:nvGrpSpPr>
        <p:grpSpPr>
          <a:xfrm>
            <a:off x="2165350" y="2108200"/>
            <a:ext cx="742950" cy="628650"/>
            <a:chOff x="2165350" y="2108200"/>
            <a:chExt cx="742950" cy="628650"/>
          </a:xfrm>
        </p:grpSpPr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7397505D-CB13-D618-E2CC-A5E44E8ACD9F}"/>
                </a:ext>
              </a:extLst>
            </p:cNvPr>
            <p:cNvSpPr/>
            <p:nvPr/>
          </p:nvSpPr>
          <p:spPr>
            <a:xfrm>
              <a:off x="2279650" y="21082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id="{5B903745-8678-B1FA-991C-4EED7CE2F1CC}"/>
                </a:ext>
              </a:extLst>
            </p:cNvPr>
            <p:cNvSpPr/>
            <p:nvPr/>
          </p:nvSpPr>
          <p:spPr>
            <a:xfrm>
              <a:off x="2336800" y="21082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id="{0931ACBA-1FA4-91C6-1523-1CA9AFD5DBE9}"/>
                </a:ext>
              </a:extLst>
            </p:cNvPr>
            <p:cNvSpPr/>
            <p:nvPr/>
          </p:nvSpPr>
          <p:spPr>
            <a:xfrm>
              <a:off x="2393950" y="21082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id="{53FAE1B5-7620-4541-8554-84A3B886324C}"/>
                </a:ext>
              </a:extLst>
            </p:cNvPr>
            <p:cNvSpPr/>
            <p:nvPr/>
          </p:nvSpPr>
          <p:spPr>
            <a:xfrm>
              <a:off x="2622550" y="21082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id="{BA4FA758-43BD-97F5-81D9-5ACD06EE9149}"/>
                </a:ext>
              </a:extLst>
            </p:cNvPr>
            <p:cNvSpPr/>
            <p:nvPr/>
          </p:nvSpPr>
          <p:spPr>
            <a:xfrm>
              <a:off x="2679700" y="21082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id="{3C8F0FAA-68BF-AE4E-9D2A-25281F8B9BDE}"/>
                </a:ext>
              </a:extLst>
            </p:cNvPr>
            <p:cNvSpPr/>
            <p:nvPr/>
          </p:nvSpPr>
          <p:spPr>
            <a:xfrm>
              <a:off x="2736850" y="21082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id="{7E42AF72-B216-24BF-7EDC-45B075161D46}"/>
                </a:ext>
              </a:extLst>
            </p:cNvPr>
            <p:cNvSpPr/>
            <p:nvPr/>
          </p:nvSpPr>
          <p:spPr>
            <a:xfrm>
              <a:off x="2222500" y="21653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Прямоугольник 42">
              <a:extLst>
                <a:ext uri="{FF2B5EF4-FFF2-40B4-BE49-F238E27FC236}">
                  <a16:creationId xmlns:a16="http://schemas.microsoft.com/office/drawing/2014/main" id="{98A379BB-74BD-DFE4-B8F3-4755CB6162E5}"/>
                </a:ext>
              </a:extLst>
            </p:cNvPr>
            <p:cNvSpPr/>
            <p:nvPr/>
          </p:nvSpPr>
          <p:spPr>
            <a:xfrm>
              <a:off x="2451100" y="21653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4" name="Прямоугольник 43">
              <a:extLst>
                <a:ext uri="{FF2B5EF4-FFF2-40B4-BE49-F238E27FC236}">
                  <a16:creationId xmlns:a16="http://schemas.microsoft.com/office/drawing/2014/main" id="{0F0BFF4D-3DE2-3E15-C514-BE1128F43344}"/>
                </a:ext>
              </a:extLst>
            </p:cNvPr>
            <p:cNvSpPr/>
            <p:nvPr/>
          </p:nvSpPr>
          <p:spPr>
            <a:xfrm>
              <a:off x="2565400" y="21653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id="{BC64F689-E0D2-99F5-260E-253A11BA25D6}"/>
                </a:ext>
              </a:extLst>
            </p:cNvPr>
            <p:cNvSpPr/>
            <p:nvPr/>
          </p:nvSpPr>
          <p:spPr>
            <a:xfrm>
              <a:off x="2794000" y="21653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Прямоугольник 45">
              <a:extLst>
                <a:ext uri="{FF2B5EF4-FFF2-40B4-BE49-F238E27FC236}">
                  <a16:creationId xmlns:a16="http://schemas.microsoft.com/office/drawing/2014/main" id="{AB42AAD6-4C31-21CB-7D51-710721A62ACD}"/>
                </a:ext>
              </a:extLst>
            </p:cNvPr>
            <p:cNvSpPr/>
            <p:nvPr/>
          </p:nvSpPr>
          <p:spPr>
            <a:xfrm>
              <a:off x="2165350" y="22225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7" name="Прямоугольник 46">
              <a:extLst>
                <a:ext uri="{FF2B5EF4-FFF2-40B4-BE49-F238E27FC236}">
                  <a16:creationId xmlns:a16="http://schemas.microsoft.com/office/drawing/2014/main" id="{3430823A-6D47-1BEC-F5C4-A9D5D94E7566}"/>
                </a:ext>
              </a:extLst>
            </p:cNvPr>
            <p:cNvSpPr/>
            <p:nvPr/>
          </p:nvSpPr>
          <p:spPr>
            <a:xfrm>
              <a:off x="2508250" y="22225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id="{35FC7404-B560-26DA-8F1A-25B02BD86B03}"/>
                </a:ext>
              </a:extLst>
            </p:cNvPr>
            <p:cNvSpPr/>
            <p:nvPr/>
          </p:nvSpPr>
          <p:spPr>
            <a:xfrm>
              <a:off x="2851150" y="22225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:a16="http://schemas.microsoft.com/office/drawing/2014/main" id="{DB597668-23A0-7C64-1959-21203B4DEA09}"/>
                </a:ext>
              </a:extLst>
            </p:cNvPr>
            <p:cNvSpPr/>
            <p:nvPr/>
          </p:nvSpPr>
          <p:spPr>
            <a:xfrm>
              <a:off x="2165350" y="22796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Прямоугольник 49">
              <a:extLst>
                <a:ext uri="{FF2B5EF4-FFF2-40B4-BE49-F238E27FC236}">
                  <a16:creationId xmlns:a16="http://schemas.microsoft.com/office/drawing/2014/main" id="{E51C2EFC-0CAD-F754-F875-1991C1D9AB1C}"/>
                </a:ext>
              </a:extLst>
            </p:cNvPr>
            <p:cNvSpPr/>
            <p:nvPr/>
          </p:nvSpPr>
          <p:spPr>
            <a:xfrm>
              <a:off x="2851150" y="22796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Прямоугольник 50">
              <a:extLst>
                <a:ext uri="{FF2B5EF4-FFF2-40B4-BE49-F238E27FC236}">
                  <a16:creationId xmlns:a16="http://schemas.microsoft.com/office/drawing/2014/main" id="{1392214E-7B20-49AC-FFAF-30CB637116BA}"/>
                </a:ext>
              </a:extLst>
            </p:cNvPr>
            <p:cNvSpPr/>
            <p:nvPr/>
          </p:nvSpPr>
          <p:spPr>
            <a:xfrm>
              <a:off x="2165350" y="23368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Прямоугольник 51">
              <a:extLst>
                <a:ext uri="{FF2B5EF4-FFF2-40B4-BE49-F238E27FC236}">
                  <a16:creationId xmlns:a16="http://schemas.microsoft.com/office/drawing/2014/main" id="{95860716-4722-E4B5-F04F-50E9C9B68A29}"/>
                </a:ext>
              </a:extLst>
            </p:cNvPr>
            <p:cNvSpPr/>
            <p:nvPr/>
          </p:nvSpPr>
          <p:spPr>
            <a:xfrm>
              <a:off x="2851150" y="23368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3" name="Прямоугольник 52">
              <a:extLst>
                <a:ext uri="{FF2B5EF4-FFF2-40B4-BE49-F238E27FC236}">
                  <a16:creationId xmlns:a16="http://schemas.microsoft.com/office/drawing/2014/main" id="{F18F35DB-0C5D-B4B1-7F35-AEB6A2BA461A}"/>
                </a:ext>
              </a:extLst>
            </p:cNvPr>
            <p:cNvSpPr/>
            <p:nvPr/>
          </p:nvSpPr>
          <p:spPr>
            <a:xfrm>
              <a:off x="2222500" y="23939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4" name="Прямоугольник 53">
              <a:extLst>
                <a:ext uri="{FF2B5EF4-FFF2-40B4-BE49-F238E27FC236}">
                  <a16:creationId xmlns:a16="http://schemas.microsoft.com/office/drawing/2014/main" id="{663673EA-DE7B-9D26-5E7B-8EBE66DD6845}"/>
                </a:ext>
              </a:extLst>
            </p:cNvPr>
            <p:cNvSpPr/>
            <p:nvPr/>
          </p:nvSpPr>
          <p:spPr>
            <a:xfrm>
              <a:off x="2794000" y="23939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5" name="Прямоугольник 54">
              <a:extLst>
                <a:ext uri="{FF2B5EF4-FFF2-40B4-BE49-F238E27FC236}">
                  <a16:creationId xmlns:a16="http://schemas.microsoft.com/office/drawing/2014/main" id="{846C2CF8-1EA3-35F3-6DB6-61AB50B680C9}"/>
                </a:ext>
              </a:extLst>
            </p:cNvPr>
            <p:cNvSpPr/>
            <p:nvPr/>
          </p:nvSpPr>
          <p:spPr>
            <a:xfrm>
              <a:off x="2279650" y="24511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6" name="Прямоугольник 55">
              <a:extLst>
                <a:ext uri="{FF2B5EF4-FFF2-40B4-BE49-F238E27FC236}">
                  <a16:creationId xmlns:a16="http://schemas.microsoft.com/office/drawing/2014/main" id="{93E7C103-C924-0952-5DEE-3AE2D6A7EF52}"/>
                </a:ext>
              </a:extLst>
            </p:cNvPr>
            <p:cNvSpPr/>
            <p:nvPr/>
          </p:nvSpPr>
          <p:spPr>
            <a:xfrm>
              <a:off x="2736850" y="24511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7" name="Прямоугольник 56">
              <a:extLst>
                <a:ext uri="{FF2B5EF4-FFF2-40B4-BE49-F238E27FC236}">
                  <a16:creationId xmlns:a16="http://schemas.microsoft.com/office/drawing/2014/main" id="{4D3CA6DA-EB83-B44F-5C4A-E96021E03133}"/>
                </a:ext>
              </a:extLst>
            </p:cNvPr>
            <p:cNvSpPr/>
            <p:nvPr/>
          </p:nvSpPr>
          <p:spPr>
            <a:xfrm>
              <a:off x="2336800" y="25082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Прямоугольник 57">
              <a:extLst>
                <a:ext uri="{FF2B5EF4-FFF2-40B4-BE49-F238E27FC236}">
                  <a16:creationId xmlns:a16="http://schemas.microsoft.com/office/drawing/2014/main" id="{27BC3720-9408-DC5B-DA54-8141C8D41575}"/>
                </a:ext>
              </a:extLst>
            </p:cNvPr>
            <p:cNvSpPr/>
            <p:nvPr/>
          </p:nvSpPr>
          <p:spPr>
            <a:xfrm>
              <a:off x="2679700" y="25082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9" name="Прямоугольник 58">
              <a:extLst>
                <a:ext uri="{FF2B5EF4-FFF2-40B4-BE49-F238E27FC236}">
                  <a16:creationId xmlns:a16="http://schemas.microsoft.com/office/drawing/2014/main" id="{A6934A12-1494-446E-B9B7-4E06AC6F1A35}"/>
                </a:ext>
              </a:extLst>
            </p:cNvPr>
            <p:cNvSpPr/>
            <p:nvPr/>
          </p:nvSpPr>
          <p:spPr>
            <a:xfrm>
              <a:off x="2393950" y="25654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0" name="Прямоугольник 59">
              <a:extLst>
                <a:ext uri="{FF2B5EF4-FFF2-40B4-BE49-F238E27FC236}">
                  <a16:creationId xmlns:a16="http://schemas.microsoft.com/office/drawing/2014/main" id="{CADC189E-D130-2E90-4521-99DA086EC403}"/>
                </a:ext>
              </a:extLst>
            </p:cNvPr>
            <p:cNvSpPr/>
            <p:nvPr/>
          </p:nvSpPr>
          <p:spPr>
            <a:xfrm>
              <a:off x="2622550" y="25654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1" name="Прямоугольник 60">
              <a:extLst>
                <a:ext uri="{FF2B5EF4-FFF2-40B4-BE49-F238E27FC236}">
                  <a16:creationId xmlns:a16="http://schemas.microsoft.com/office/drawing/2014/main" id="{339A83C9-58AD-9D59-A10C-E8E11DF9CE7C}"/>
                </a:ext>
              </a:extLst>
            </p:cNvPr>
            <p:cNvSpPr/>
            <p:nvPr/>
          </p:nvSpPr>
          <p:spPr>
            <a:xfrm>
              <a:off x="2451100" y="26225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2" name="Прямоугольник 61">
              <a:extLst>
                <a:ext uri="{FF2B5EF4-FFF2-40B4-BE49-F238E27FC236}">
                  <a16:creationId xmlns:a16="http://schemas.microsoft.com/office/drawing/2014/main" id="{ACC00643-7925-632B-CE94-57C77BE01CCB}"/>
                </a:ext>
              </a:extLst>
            </p:cNvPr>
            <p:cNvSpPr/>
            <p:nvPr/>
          </p:nvSpPr>
          <p:spPr>
            <a:xfrm>
              <a:off x="2565400" y="262255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Прямоугольник 62">
              <a:extLst>
                <a:ext uri="{FF2B5EF4-FFF2-40B4-BE49-F238E27FC236}">
                  <a16:creationId xmlns:a16="http://schemas.microsoft.com/office/drawing/2014/main" id="{61507F75-FAA3-4E1F-9E6F-F6FDE96EA929}"/>
                </a:ext>
              </a:extLst>
            </p:cNvPr>
            <p:cNvSpPr/>
            <p:nvPr/>
          </p:nvSpPr>
          <p:spPr>
            <a:xfrm>
              <a:off x="2508250" y="2679700"/>
              <a:ext cx="57150" cy="5715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9225301E-C7AD-5393-65A8-95031F85168F}"/>
              </a:ext>
            </a:extLst>
          </p:cNvPr>
          <p:cNvSpPr txBox="1"/>
          <p:nvPr/>
        </p:nvSpPr>
        <p:spPr>
          <a:xfrm>
            <a:off x="863600" y="3378200"/>
            <a:ext cx="3302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ru-RU" sz="900" b="1" spc="150">
                <a:solidFill>
                  <a:srgbClr val="22A889"/>
                </a:solidFill>
                <a:latin typeface="Arial" panose="020B0604020202020204" pitchFamily="34" charset="0"/>
              </a:rPr>
              <a:t>ПОРТРЕТ ПОЛЬЗОВАТЕЛЯ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CD70F14-28EE-F39B-E76B-840928F89DEE}"/>
              </a:ext>
            </a:extLst>
          </p:cNvPr>
          <p:cNvSpPr txBox="1"/>
          <p:nvPr/>
        </p:nvSpPr>
        <p:spPr>
          <a:xfrm>
            <a:off x="863600" y="3657600"/>
            <a:ext cx="3302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ru-RU" sz="1400" b="1">
                <a:solidFill>
                  <a:srgbClr val="0F1B3D"/>
                </a:solidFill>
                <a:latin typeface="Arial" panose="020B0604020202020204" pitchFamily="34" charset="0"/>
              </a:rPr>
              <a:t>Студент очного отделения, который живёт на стипендию и подработку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52FB9B3-03D1-4631-B973-904400BC1A19}"/>
              </a:ext>
            </a:extLst>
          </p:cNvPr>
          <p:cNvSpPr txBox="1"/>
          <p:nvPr/>
        </p:nvSpPr>
        <p:spPr>
          <a:xfrm>
            <a:off x="863600" y="4419600"/>
            <a:ext cx="33020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ru-RU" sz="1150">
                <a:solidFill>
                  <a:srgbClr val="6B7892"/>
                </a:solidFill>
                <a:latin typeface="Arial" panose="020B0604020202020204" pitchFamily="34" charset="0"/>
              </a:rPr>
              <a:t>18–23 года, студент бакалавриата  ·  подрабатывает 10–20 часов в неделю  ·  важно не уйти в долги и не переплачивать</a:t>
            </a:r>
          </a:p>
        </p:txBody>
      </p:sp>
      <p:sp>
        <p:nvSpPr>
          <p:cNvPr id="68" name="Прямоугольник: скругленные углы 67">
            <a:extLst>
              <a:ext uri="{FF2B5EF4-FFF2-40B4-BE49-F238E27FC236}">
                <a16:creationId xmlns:a16="http://schemas.microsoft.com/office/drawing/2014/main" id="{5164D08C-C9BD-405D-04D9-2F8AD717F7CD}"/>
              </a:ext>
            </a:extLst>
          </p:cNvPr>
          <p:cNvSpPr/>
          <p:nvPr/>
        </p:nvSpPr>
        <p:spPr>
          <a:xfrm>
            <a:off x="4673600" y="1320800"/>
            <a:ext cx="6908800" cy="1346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рямоугольник: скругленные углы 68">
            <a:extLst>
              <a:ext uri="{FF2B5EF4-FFF2-40B4-BE49-F238E27FC236}">
                <a16:creationId xmlns:a16="http://schemas.microsoft.com/office/drawing/2014/main" id="{39F97884-5992-3058-A9A8-ACAEAE7F9B83}"/>
              </a:ext>
            </a:extLst>
          </p:cNvPr>
          <p:cNvSpPr/>
          <p:nvPr/>
        </p:nvSpPr>
        <p:spPr>
          <a:xfrm>
            <a:off x="4927600" y="16002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79C28B8-72A4-43CA-CB70-94CAD8003009}"/>
              </a:ext>
            </a:extLst>
          </p:cNvPr>
          <p:cNvSpPr txBox="1"/>
          <p:nvPr/>
        </p:nvSpPr>
        <p:spPr>
          <a:xfrm>
            <a:off x="5588000" y="1600200"/>
            <a:ext cx="5588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>
                <a:solidFill>
                  <a:srgbClr val="22A889"/>
                </a:solidFill>
                <a:latin typeface="Arial" panose="020B0604020202020204" pitchFamily="34" charset="0"/>
              </a:rPr>
              <a:t>ОСНОВНАЯ ЦА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8927D53-7B8E-E6F0-FAFA-96F8A7D79AC8}"/>
              </a:ext>
            </a:extLst>
          </p:cNvPr>
          <p:cNvSpPr txBox="1"/>
          <p:nvPr/>
        </p:nvSpPr>
        <p:spPr>
          <a:xfrm>
            <a:off x="5588000" y="1879600"/>
            <a:ext cx="5715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>
                <a:solidFill>
                  <a:srgbClr val="0F1B3D"/>
                </a:solidFill>
                <a:latin typeface="Arial" panose="020B0604020202020204" pitchFamily="34" charset="0"/>
              </a:rPr>
              <a:t>Студенты вузов и колледжей 18–23 лет</a:t>
            </a:r>
          </a:p>
        </p:txBody>
      </p:sp>
      <p:sp>
        <p:nvSpPr>
          <p:cNvPr id="72" name="Прямоугольник: скругленные углы 71">
            <a:extLst>
              <a:ext uri="{FF2B5EF4-FFF2-40B4-BE49-F238E27FC236}">
                <a16:creationId xmlns:a16="http://schemas.microsoft.com/office/drawing/2014/main" id="{2B0D194A-0596-4463-6964-F6E559486180}"/>
              </a:ext>
            </a:extLst>
          </p:cNvPr>
          <p:cNvSpPr/>
          <p:nvPr/>
        </p:nvSpPr>
        <p:spPr>
          <a:xfrm>
            <a:off x="4673600" y="2870200"/>
            <a:ext cx="6908800" cy="1346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Прямоугольник: скругленные углы 72">
            <a:extLst>
              <a:ext uri="{FF2B5EF4-FFF2-40B4-BE49-F238E27FC236}">
                <a16:creationId xmlns:a16="http://schemas.microsoft.com/office/drawing/2014/main" id="{E4800A70-2D8F-AEEA-B082-9F7B800E5DD5}"/>
              </a:ext>
            </a:extLst>
          </p:cNvPr>
          <p:cNvSpPr/>
          <p:nvPr/>
        </p:nvSpPr>
        <p:spPr>
          <a:xfrm>
            <a:off x="4927600" y="31496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02EB3D7-365D-2EF5-7E14-FDD75CBEE45D}"/>
              </a:ext>
            </a:extLst>
          </p:cNvPr>
          <p:cNvSpPr txBox="1"/>
          <p:nvPr/>
        </p:nvSpPr>
        <p:spPr>
          <a:xfrm>
            <a:off x="5588000" y="3149600"/>
            <a:ext cx="5588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>
                <a:solidFill>
                  <a:srgbClr val="22A889"/>
                </a:solidFill>
                <a:latin typeface="Arial" panose="020B0604020202020204" pitchFamily="34" charset="0"/>
              </a:rPr>
              <a:t>СЕГМЕНТ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D265B11-1D29-F3EC-F456-BFD67411C418}"/>
              </a:ext>
            </a:extLst>
          </p:cNvPr>
          <p:cNvSpPr txBox="1"/>
          <p:nvPr/>
        </p:nvSpPr>
        <p:spPr>
          <a:xfrm>
            <a:off x="5588000" y="3429000"/>
            <a:ext cx="5715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>
                <a:solidFill>
                  <a:srgbClr val="0F1B3D"/>
                </a:solidFill>
                <a:latin typeface="Arial" panose="020B0604020202020204" pitchFamily="34" charset="0"/>
              </a:rPr>
              <a:t>Первокурсники и второкурсники — у них ещё нет привычки вести бюджет, а траты становятся самостоятельными впервые</a:t>
            </a:r>
          </a:p>
        </p:txBody>
      </p:sp>
      <p:sp>
        <p:nvSpPr>
          <p:cNvPr id="76" name="Прямоугольник: скругленные углы 75">
            <a:extLst>
              <a:ext uri="{FF2B5EF4-FFF2-40B4-BE49-F238E27FC236}">
                <a16:creationId xmlns:a16="http://schemas.microsoft.com/office/drawing/2014/main" id="{1CAC03A0-214E-5FC7-FB67-D90A367F249C}"/>
              </a:ext>
            </a:extLst>
          </p:cNvPr>
          <p:cNvSpPr/>
          <p:nvPr/>
        </p:nvSpPr>
        <p:spPr>
          <a:xfrm>
            <a:off x="4673600" y="4419600"/>
            <a:ext cx="6908800" cy="1346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Прямоугольник: скругленные углы 76">
            <a:extLst>
              <a:ext uri="{FF2B5EF4-FFF2-40B4-BE49-F238E27FC236}">
                <a16:creationId xmlns:a16="http://schemas.microsoft.com/office/drawing/2014/main" id="{E9E81BB4-8AF8-2BDC-EE64-DEA8DE16609A}"/>
              </a:ext>
            </a:extLst>
          </p:cNvPr>
          <p:cNvSpPr/>
          <p:nvPr/>
        </p:nvSpPr>
        <p:spPr>
          <a:xfrm>
            <a:off x="4927600" y="46990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22496D-F8C5-CF43-D46E-90DCB962B376}"/>
              </a:ext>
            </a:extLst>
          </p:cNvPr>
          <p:cNvSpPr txBox="1"/>
          <p:nvPr/>
        </p:nvSpPr>
        <p:spPr>
          <a:xfrm>
            <a:off x="5588000" y="4699000"/>
            <a:ext cx="5588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>
                <a:solidFill>
                  <a:srgbClr val="22A889"/>
                </a:solidFill>
                <a:latin typeface="Arial" panose="020B0604020202020204" pitchFamily="34" charset="0"/>
              </a:rPr>
              <a:t>КОНТЕКСТ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097DB5A-3005-DADB-8D1F-99078083C46F}"/>
              </a:ext>
            </a:extLst>
          </p:cNvPr>
          <p:cNvSpPr txBox="1"/>
          <p:nvPr/>
        </p:nvSpPr>
        <p:spPr>
          <a:xfrm>
            <a:off x="5588000" y="4978400"/>
            <a:ext cx="5715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 dirty="0">
                <a:solidFill>
                  <a:srgbClr val="0F1B3D"/>
                </a:solidFill>
                <a:latin typeface="Arial" panose="020B0604020202020204" pitchFamily="34" charset="0"/>
              </a:rPr>
              <a:t>Проблема появляется сразу после переезда в общежитие или первой подработки; сейчас её решают в лучшем случае таблицей в Google </a:t>
            </a:r>
            <a:r>
              <a:rPr lang="ru-RU" sz="1500" dirty="0" err="1">
                <a:solidFill>
                  <a:srgbClr val="0F1B3D"/>
                </a:solidFill>
                <a:latin typeface="Arial" panose="020B0604020202020204" pitchFamily="34" charset="0"/>
              </a:rPr>
              <a:t>Sheets</a:t>
            </a:r>
            <a:r>
              <a:rPr lang="ru-RU" sz="1500" dirty="0">
                <a:solidFill>
                  <a:srgbClr val="0F1B3D"/>
                </a:solidFill>
                <a:latin typeface="Arial" panose="020B0604020202020204" pitchFamily="34" charset="0"/>
              </a:rPr>
              <a:t>, которую забрасывают через неделю</a:t>
            </a:r>
          </a:p>
        </p:txBody>
      </p:sp>
      <p:pic>
        <p:nvPicPr>
          <p:cNvPr id="84" name="Рисунок 83">
            <a:extLst>
              <a:ext uri="{FF2B5EF4-FFF2-40B4-BE49-F238E27FC236}">
                <a16:creationId xmlns:a16="http://schemas.microsoft.com/office/drawing/2014/main" id="{FEA7ACC3-F8E0-4E3F-875F-40A38CCB3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850" y="1350019"/>
            <a:ext cx="1522800" cy="2030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27729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AE30C3-D144-9786-3491-CE174604A805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67B171-7ECB-1ED3-D93F-4E9D75AFBCA4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05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FB845745-7E20-320A-0087-0527C74AB10C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1B4B66FD-F435-7C17-D350-2AD351260734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0ADAB74C-F431-9350-71AB-974ED36E242D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983AE699-6108-D747-4EC5-C77E68ACD9C8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C9BBED82-C31C-727B-C84E-7DBB4742E5B7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DCCC5E9-D85D-7B03-5434-D44A77CD1CA9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1A8FFD90-6C58-E810-8B58-97F9D3B8B687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80B7519F-6B70-ADA6-3216-4CB5C37F26A2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E7009FEC-E36C-8C13-610D-954527E15E9B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531C221F-E1C8-1D93-7194-FB70258F3CBE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4C142320-4D8E-D458-941C-F5153A5B2092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9C6D7C0C-26E5-0142-A059-9F593EF615B5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FBF0A95D-824A-3C3E-8104-D6FA466C3420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331B85C5-A21D-A791-35A8-8D953D6F6297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F142C75E-B0BC-C09D-27A7-3ABD329C83E1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4737EFE9-4A4F-99CD-4308-130F8B18A542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357A66CC-87CC-2AFD-5175-871BE074F88B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741770E3-D9B2-2226-A7E9-BA35B6BE3E2C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A392808F-5C93-678A-68B7-726AFE03B4D6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5E3A129F-FCF5-C070-4F66-FB4DB6473489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887E3A7A-0E62-527D-A2DC-51B6F91D901B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A7B157A-9CA9-A442-7316-5B9AD712BFD4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1D3FE673-D6B7-8F95-6FE9-90F09BE3A946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49312BD8-55AE-5C20-91B7-BD5B5FBE895C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F5DB632F-87CD-A2F8-0683-9CC71AF281A9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B736626B-7072-B270-DDF2-99EF02B066F9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34C36A90-E70F-B8BB-98A7-3778E73BFEE4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2F590B6C-F52F-F2A1-1040-F3879F3A1351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F6798FB0-2739-0CE2-FC75-C252CD3D34EF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1981A733-C286-F8E5-3CAD-AE2A67114894}"/>
              </a:ext>
            </a:extLst>
          </p:cNvPr>
          <p:cNvSpPr txBox="1"/>
          <p:nvPr/>
        </p:nvSpPr>
        <p:spPr>
          <a:xfrm>
            <a:off x="1981200" y="51562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Предлагаемое решение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AD1AC979-973C-0D7B-3FE7-0331EE9FDE2E}"/>
              </a:ext>
            </a:extLst>
          </p:cNvPr>
          <p:cNvSpPr/>
          <p:nvPr/>
        </p:nvSpPr>
        <p:spPr>
          <a:xfrm>
            <a:off x="609600" y="1320800"/>
            <a:ext cx="6604000" cy="1905000"/>
          </a:xfrm>
          <a:prstGeom prst="roundRect">
            <a:avLst>
              <a:gd name="adj" fmla="val 10000"/>
            </a:avLst>
          </a:prstGeom>
          <a:solidFill>
            <a:srgbClr val="0F1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733BCA-DDEC-22DE-225A-A5435985F562}"/>
              </a:ext>
            </a:extLst>
          </p:cNvPr>
          <p:cNvSpPr txBox="1"/>
          <p:nvPr/>
        </p:nvSpPr>
        <p:spPr>
          <a:xfrm>
            <a:off x="914400" y="1524000"/>
            <a:ext cx="381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7FE3C4"/>
                </a:solidFill>
                <a:latin typeface="Arial" panose="020B0604020202020204" pitchFamily="34" charset="0"/>
              </a:rPr>
              <a:t>НАШ ПРОДУКТ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C505BF-E63E-73BD-E1DF-C18F17FE13E9}"/>
              </a:ext>
            </a:extLst>
          </p:cNvPr>
          <p:cNvSpPr txBox="1"/>
          <p:nvPr/>
        </p:nvSpPr>
        <p:spPr>
          <a:xfrm>
            <a:off x="914400" y="1778000"/>
            <a:ext cx="5994400" cy="1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b="1">
                <a:solidFill>
                  <a:srgbClr val="FFFFFF"/>
                </a:solidFill>
                <a:latin typeface="Arial" panose="020B0604020202020204" pitchFamily="34" charset="0"/>
              </a:rPr>
              <a:t>Финик — Telegram-бот, который в диалоге считает бюджет студента, объясняет, на что уходят деньги, и ненавязчиво подсказывает промокоды партнёров, когда это в тему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F2A32F-68C1-1408-6398-107ED7EDE452}"/>
              </a:ext>
            </a:extLst>
          </p:cNvPr>
          <p:cNvSpPr txBox="1"/>
          <p:nvPr/>
        </p:nvSpPr>
        <p:spPr>
          <a:xfrm>
            <a:off x="609600" y="35052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 b="1" spc="150">
                <a:solidFill>
                  <a:srgbClr val="22A889"/>
                </a:solidFill>
                <a:latin typeface="Arial" panose="020B0604020202020204" pitchFamily="34" charset="0"/>
              </a:rPr>
              <a:t>КАК РЕШАЕМ ПРОБЛЕМУ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9842D52D-DADE-F20A-80E2-AB4BC44F079F}"/>
              </a:ext>
            </a:extLst>
          </p:cNvPr>
          <p:cNvSpPr/>
          <p:nvPr/>
        </p:nvSpPr>
        <p:spPr>
          <a:xfrm>
            <a:off x="609600" y="3784600"/>
            <a:ext cx="1905000" cy="1981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889672-E0C9-D9CA-B1D5-4C7DF01FE964}"/>
              </a:ext>
            </a:extLst>
          </p:cNvPr>
          <p:cNvSpPr txBox="1"/>
          <p:nvPr/>
        </p:nvSpPr>
        <p:spPr>
          <a:xfrm>
            <a:off x="812800" y="3987800"/>
            <a:ext cx="1498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 b="1">
                <a:solidFill>
                  <a:srgbClr val="0F1B3D"/>
                </a:solidFill>
                <a:latin typeface="Arial" panose="020B0604020202020204" pitchFamily="34" charset="0"/>
              </a:rPr>
              <a:t>Проблема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2CF601-EEEC-007C-5629-44CFD81C4920}"/>
              </a:ext>
            </a:extLst>
          </p:cNvPr>
          <p:cNvSpPr txBox="1"/>
          <p:nvPr/>
        </p:nvSpPr>
        <p:spPr>
          <a:xfrm>
            <a:off x="812800" y="4343400"/>
            <a:ext cx="14986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dirty="0">
                <a:solidFill>
                  <a:srgbClr val="6B7892"/>
                </a:solidFill>
                <a:latin typeface="Arial" panose="020B0604020202020204" pitchFamily="34" charset="0"/>
              </a:rPr>
              <a:t>Студент не понимает свои траты и не готов тратить время на таблицы и сложные приложения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C70004-54D9-1515-0105-711E81C0762E}"/>
              </a:ext>
            </a:extLst>
          </p:cNvPr>
          <p:cNvSpPr txBox="1"/>
          <p:nvPr/>
        </p:nvSpPr>
        <p:spPr>
          <a:xfrm>
            <a:off x="2565400" y="4622800"/>
            <a:ext cx="304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b="1">
                <a:solidFill>
                  <a:srgbClr val="22A889"/>
                </a:solidFill>
                <a:latin typeface="Arial" panose="020B0604020202020204" pitchFamily="34" charset="0"/>
              </a:rPr>
              <a:t>→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053B6FB2-2876-5808-E5C5-6CD415DBC139}"/>
              </a:ext>
            </a:extLst>
          </p:cNvPr>
          <p:cNvSpPr/>
          <p:nvPr/>
        </p:nvSpPr>
        <p:spPr>
          <a:xfrm>
            <a:off x="2921000" y="3784600"/>
            <a:ext cx="1905000" cy="1981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4F60942-A611-7D41-6E78-46811FB3AB4B}"/>
              </a:ext>
            </a:extLst>
          </p:cNvPr>
          <p:cNvSpPr txBox="1"/>
          <p:nvPr/>
        </p:nvSpPr>
        <p:spPr>
          <a:xfrm>
            <a:off x="3124200" y="3881700"/>
            <a:ext cx="1498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 b="1" dirty="0">
                <a:solidFill>
                  <a:srgbClr val="0F1B3D"/>
                </a:solidFill>
                <a:latin typeface="Arial" panose="020B0604020202020204" pitchFamily="34" charset="0"/>
              </a:rPr>
              <a:t>Механика решения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37AC021-645A-65AF-49DB-5FE5CA0CD009}"/>
              </a:ext>
            </a:extLst>
          </p:cNvPr>
          <p:cNvSpPr txBox="1"/>
          <p:nvPr/>
        </p:nvSpPr>
        <p:spPr>
          <a:xfrm>
            <a:off x="3124200" y="4299936"/>
            <a:ext cx="14986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dirty="0">
                <a:solidFill>
                  <a:srgbClr val="6B7892"/>
                </a:solidFill>
                <a:latin typeface="Arial" panose="020B0604020202020204" pitchFamily="34" charset="0"/>
              </a:rPr>
              <a:t>Бот собирает расходы в переписке, помогает отслеживать бюджет и вставляет </a:t>
            </a:r>
            <a:r>
              <a:rPr lang="ru-RU" sz="1200" dirty="0" err="1">
                <a:solidFill>
                  <a:srgbClr val="6B7892"/>
                </a:solidFill>
                <a:latin typeface="Arial" panose="020B0604020202020204" pitchFamily="34" charset="0"/>
              </a:rPr>
              <a:t>промокод</a:t>
            </a:r>
            <a:r>
              <a:rPr lang="ru-RU" sz="1200" dirty="0">
                <a:solidFill>
                  <a:srgbClr val="6B7892"/>
                </a:solidFill>
                <a:latin typeface="Arial" panose="020B0604020202020204" pitchFamily="34" charset="0"/>
              </a:rPr>
              <a:t> партнёра прямо в ответ — по контексту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846D3B-F136-9DE9-711F-D237CA9FD703}"/>
              </a:ext>
            </a:extLst>
          </p:cNvPr>
          <p:cNvSpPr txBox="1"/>
          <p:nvPr/>
        </p:nvSpPr>
        <p:spPr>
          <a:xfrm>
            <a:off x="4876800" y="4622800"/>
            <a:ext cx="304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b="1">
                <a:solidFill>
                  <a:srgbClr val="22A889"/>
                </a:solidFill>
                <a:latin typeface="Arial" panose="020B0604020202020204" pitchFamily="34" charset="0"/>
              </a:rPr>
              <a:t>→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E25D1AB4-8354-1C85-F3FC-F220335C3177}"/>
              </a:ext>
            </a:extLst>
          </p:cNvPr>
          <p:cNvSpPr/>
          <p:nvPr/>
        </p:nvSpPr>
        <p:spPr>
          <a:xfrm>
            <a:off x="5232400" y="3784600"/>
            <a:ext cx="1905000" cy="19812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6E7DFB-5D86-3056-3892-3D06837F8B6A}"/>
              </a:ext>
            </a:extLst>
          </p:cNvPr>
          <p:cNvSpPr txBox="1"/>
          <p:nvPr/>
        </p:nvSpPr>
        <p:spPr>
          <a:xfrm>
            <a:off x="5435600" y="3987800"/>
            <a:ext cx="1498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 b="1">
                <a:solidFill>
                  <a:srgbClr val="0F1B3D"/>
                </a:solidFill>
                <a:latin typeface="Arial" panose="020B0604020202020204" pitchFamily="34" charset="0"/>
              </a:rPr>
              <a:t>Результат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CEF5C2-C386-4B3F-389B-014829FD83DD}"/>
              </a:ext>
            </a:extLst>
          </p:cNvPr>
          <p:cNvSpPr txBox="1"/>
          <p:nvPr/>
        </p:nvSpPr>
        <p:spPr>
          <a:xfrm>
            <a:off x="5435600" y="4419600"/>
            <a:ext cx="14986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dirty="0">
                <a:solidFill>
                  <a:srgbClr val="6B7892"/>
                </a:solidFill>
                <a:latin typeface="Arial" panose="020B0604020202020204" pitchFamily="34" charset="0"/>
              </a:rPr>
              <a:t>Понятную картину трат и реальную экономию на покупках, которые он и так планировал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2C14BA-6141-00E8-77EF-38BB4598FED5}"/>
              </a:ext>
            </a:extLst>
          </p:cNvPr>
          <p:cNvSpPr txBox="1"/>
          <p:nvPr/>
        </p:nvSpPr>
        <p:spPr>
          <a:xfrm>
            <a:off x="7721600" y="3314700"/>
            <a:ext cx="3657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endParaRPr lang="ru-RU" sz="1200" b="1" dirty="0">
              <a:solidFill>
                <a:srgbClr val="6B7892"/>
              </a:solidFill>
              <a:latin typeface="Arial" panose="020B0604020202020204" pitchFamily="34" charset="0"/>
            </a:endParaRPr>
          </a:p>
        </p:txBody>
      </p:sp>
      <p:sp>
        <p:nvSpPr>
          <p:cNvPr id="52" name="Прямоугольник: скругленные углы 51">
            <a:extLst>
              <a:ext uri="{FF2B5EF4-FFF2-40B4-BE49-F238E27FC236}">
                <a16:creationId xmlns:a16="http://schemas.microsoft.com/office/drawing/2014/main" id="{66B04365-7F11-1FF6-F18F-D2F362D6711E}"/>
              </a:ext>
            </a:extLst>
          </p:cNvPr>
          <p:cNvSpPr/>
          <p:nvPr/>
        </p:nvSpPr>
        <p:spPr>
          <a:xfrm>
            <a:off x="609600" y="6019800"/>
            <a:ext cx="10972800" cy="48260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78C8F33-6E67-4B5F-CBD4-483EBAA36DA7}"/>
              </a:ext>
            </a:extLst>
          </p:cNvPr>
          <p:cNvSpPr txBox="1"/>
          <p:nvPr/>
        </p:nvSpPr>
        <p:spPr>
          <a:xfrm>
            <a:off x="838200" y="61722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00">
                <a:solidFill>
                  <a:srgbClr val="22A889"/>
                </a:solidFill>
                <a:latin typeface="Arial" panose="020B0604020202020204" pitchFamily="34" charset="0"/>
              </a:rPr>
              <a:t>ПРИМЕЧАНИЕ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622AC9-3048-2F71-5ABB-DFD7B4F24E82}"/>
              </a:ext>
            </a:extLst>
          </p:cNvPr>
          <p:cNvSpPr txBox="1"/>
          <p:nvPr/>
        </p:nvSpPr>
        <p:spPr>
          <a:xfrm>
            <a:off x="2006600" y="6134100"/>
            <a:ext cx="9398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150" dirty="0">
                <a:solidFill>
                  <a:srgbClr val="35425F"/>
                </a:solidFill>
                <a:latin typeface="Arial" panose="020B0604020202020204" pitchFamily="34" charset="0"/>
              </a:rPr>
              <a:t>От первого сообщения о трате до решения — три шага, без установки отдельного приложения.</a:t>
            </a:r>
          </a:p>
        </p:txBody>
      </p: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E097EB12-EC8F-462F-A643-1DDDA2C07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564" y="1157344"/>
            <a:ext cx="4686072" cy="46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478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9D6CA0-3F2C-DC63-46A7-345EC20C1E50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2503FF-81D1-0180-32C2-5EAD792D848A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06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455E20A2-0BCE-27C2-A337-8726CBC2286F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52829D8C-F18D-B1E8-728B-BB2562909BB7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86AB556-3B7B-8845-08D5-6C9805AD1B1E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DC9A401B-8D57-1568-BA79-F4E408E97912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CB7F383E-DFD5-4AA8-2C93-D47C2C82C2D3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E57D6249-6352-1195-304E-92584816161F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FC6A21B5-1A51-818A-D50C-9418DC9AC4DB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B9842DD4-0511-5F15-23BE-DB86DD033E0F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196CB868-B1DB-CF6C-D35A-584675C10155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9A20F218-7463-B104-0477-505853547E39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8C55B7B9-7CC5-DBFF-AADA-2481453243C3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EE5E1266-F93C-8835-4133-025814D3B705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CAE24A51-45F6-C1A3-5A03-4C977A4510BC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FC212C6B-0FEC-12CF-8E7C-E2518163D287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DC1DB416-5A80-6B30-F839-FC15CE755C72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F98EFEDD-4734-62D4-93E9-6D6811EABBED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BC85B963-3F3D-1EFA-E809-0BE69EB9C379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040BA5B2-2E9A-9BA8-D892-6F2BFC478DC7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F4BC92F9-D6ED-524B-940E-C4C6327F7C83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24260F5F-1E0D-2A13-E001-ACEDCD02092A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86FBB2FA-A625-890A-046E-4E6B45448AAE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1C827E2D-E3F1-4EFE-7039-F19A896110F3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C20F2483-D5C8-D338-D4F7-D14DE4DC0DBA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9FDDBE40-77B2-78C7-0750-BA0DD6668148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D0403811-8CC5-CCF1-086C-D5C1F8FD94DA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0FB7E1DA-9FC3-B410-AF03-D92B87D49D94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74204A84-4C38-8054-15DE-6DF9283F1A23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5CE84307-58D8-2681-F279-CD6D0A34F33D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87669487-4751-3EF6-9CDC-D58043E97D22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867CED46-4673-80DE-BD37-C8914F013430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Ценность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D8288D-2B5B-B9E5-4BB7-B72C5A1C9576}"/>
              </a:ext>
            </a:extLst>
          </p:cNvPr>
          <p:cNvSpPr txBox="1"/>
          <p:nvPr/>
        </p:nvSpPr>
        <p:spPr>
          <a:xfrm>
            <a:off x="609600" y="1270000"/>
            <a:ext cx="10972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600">
                <a:solidFill>
                  <a:srgbClr val="35425F"/>
                </a:solidFill>
                <a:latin typeface="Arial" panose="020B0604020202020204" pitchFamily="34" charset="0"/>
              </a:rPr>
              <a:t>Финик экономит студенту деньги и время — без нотаций и сложных таблиц</a:t>
            </a:r>
          </a:p>
        </p:txBody>
      </p:sp>
      <p:sp>
        <p:nvSpPr>
          <p:cNvPr id="9001" name="Card container 0"/>
          <p:cNvSpPr/>
          <p:nvPr/>
        </p:nvSpPr>
        <p:spPr>
          <a:xfrm>
            <a:off x="609600" y="2794000"/>
            <a:ext cx="3521710" cy="2971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002" name="Card badge 0"/>
          <p:cNvSpPr/>
          <p:nvPr/>
        </p:nvSpPr>
        <p:spPr>
          <a:xfrm>
            <a:off x="863600" y="30480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01</a:t>
            </a:r>
          </a:p>
        </p:txBody>
      </p:sp>
      <p:sp>
        <p:nvSpPr>
          <p:cNvPr id="9003" name="Card title 0"/>
          <p:cNvSpPr txBox="1"/>
          <p:nvPr/>
        </p:nvSpPr>
        <p:spPr>
          <a:xfrm>
            <a:off x="863600" y="358140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>
                <a:solidFill>
                  <a:srgbClr val="22A889"/>
                </a:solidFill>
                <a:latin typeface="Arial" panose="020B0604020202020204" pitchFamily="34" charset="0"/>
              </a:rPr>
              <a:t>Понятный бюджет без таблиц</a:t>
            </a:r>
          </a:p>
        </p:txBody>
      </p:sp>
      <p:sp>
        <p:nvSpPr>
          <p:cNvPr id="9004" name="Card desc 0"/>
          <p:cNvSpPr txBox="1"/>
          <p:nvPr/>
        </p:nvSpPr>
        <p:spPr>
          <a:xfrm>
            <a:off x="863600" y="3886200"/>
            <a:ext cx="30137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>
                <a:solidFill>
                  <a:srgbClr val="0F1B3D"/>
                </a:solidFill>
                <a:latin typeface="Arial" panose="020B0604020202020204" pitchFamily="34" charset="0"/>
              </a:rPr>
              <a:t>Бот сам собирает расходы в диалоге и показывает, куда уходят деньги — без экспорта выписок и Excel</a:t>
            </a:r>
          </a:p>
        </p:txBody>
      </p:sp>
      <p:sp>
        <p:nvSpPr>
          <p:cNvPr id="9005" name="Card container 1"/>
          <p:cNvSpPr/>
          <p:nvPr/>
        </p:nvSpPr>
        <p:spPr>
          <a:xfrm>
            <a:off x="4334510" y="2794000"/>
            <a:ext cx="3521710" cy="2971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006" name="Card badge 1"/>
          <p:cNvSpPr/>
          <p:nvPr/>
        </p:nvSpPr>
        <p:spPr>
          <a:xfrm>
            <a:off x="4588510" y="30480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02</a:t>
            </a:r>
          </a:p>
        </p:txBody>
      </p:sp>
      <p:sp>
        <p:nvSpPr>
          <p:cNvPr id="9007" name="Card title 1"/>
          <p:cNvSpPr txBox="1"/>
          <p:nvPr/>
        </p:nvSpPr>
        <p:spPr>
          <a:xfrm>
            <a:off x="4588510" y="358140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>
                <a:solidFill>
                  <a:srgbClr val="22A889"/>
                </a:solidFill>
                <a:latin typeface="Arial" panose="020B0604020202020204" pitchFamily="34" charset="0"/>
              </a:rPr>
              <a:t>Промокоды в тему, а не спам</a:t>
            </a:r>
          </a:p>
        </p:txBody>
      </p:sp>
      <p:sp>
        <p:nvSpPr>
          <p:cNvPr id="9008" name="Card desc 1"/>
          <p:cNvSpPr txBox="1"/>
          <p:nvPr/>
        </p:nvSpPr>
        <p:spPr>
          <a:xfrm>
            <a:off x="4588510" y="3886200"/>
            <a:ext cx="30137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>
                <a:solidFill>
                  <a:srgbClr val="0F1B3D"/>
                </a:solidFill>
                <a:latin typeface="Arial" panose="020B0604020202020204" pitchFamily="34" charset="0"/>
              </a:rPr>
              <a:t>ИИ предлагает скидку только тогда, когда она закрывает реальную трату из бюджета студента</a:t>
            </a:r>
          </a:p>
        </p:txBody>
      </p:sp>
      <p:sp>
        <p:nvSpPr>
          <p:cNvPr id="9009" name="Card container 2"/>
          <p:cNvSpPr/>
          <p:nvPr/>
        </p:nvSpPr>
        <p:spPr>
          <a:xfrm>
            <a:off x="8059420" y="2794000"/>
            <a:ext cx="3521710" cy="2971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010" name="Card badge 2"/>
          <p:cNvSpPr/>
          <p:nvPr/>
        </p:nvSpPr>
        <p:spPr>
          <a:xfrm>
            <a:off x="8313420" y="30480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03</a:t>
            </a:r>
          </a:p>
        </p:txBody>
      </p:sp>
      <p:sp>
        <p:nvSpPr>
          <p:cNvPr id="9011" name="Card title 2"/>
          <p:cNvSpPr txBox="1"/>
          <p:nvPr/>
        </p:nvSpPr>
        <p:spPr>
          <a:xfrm>
            <a:off x="8313420" y="358140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>
                <a:solidFill>
                  <a:srgbClr val="22A889"/>
                </a:solidFill>
                <a:latin typeface="Arial" panose="020B0604020202020204" pitchFamily="34" charset="0"/>
              </a:rPr>
              <a:t>Бесплатно для студента</a:t>
            </a:r>
          </a:p>
        </p:txBody>
      </p:sp>
      <p:sp>
        <p:nvSpPr>
          <p:cNvPr id="9012" name="Card desc 2"/>
          <p:cNvSpPr txBox="1"/>
          <p:nvPr/>
        </p:nvSpPr>
        <p:spPr>
          <a:xfrm>
            <a:off x="8313420" y="3886200"/>
            <a:ext cx="30137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>
                <a:solidFill>
                  <a:srgbClr val="0F1B3D"/>
                </a:solidFill>
                <a:latin typeface="Arial" panose="020B0604020202020204" pitchFamily="34" charset="0"/>
              </a:rPr>
              <a:t>Продукт живёт на промокодах от партнёров, а не на подписке пользователя</a:t>
            </a:r>
          </a:p>
        </p:txBody>
      </p:sp>
    </p:spTree>
    <p:extLst>
      <p:ext uri="{BB962C8B-B14F-4D97-AF65-F5344CB8AC3E}">
        <p14:creationId xmlns:p14="http://schemas.microsoft.com/office/powerpoint/2010/main" val="1602982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D644D0-3DBB-1D34-FFDE-699865B0949A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139900-E3F8-B423-1D91-AEDA6ED5A074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07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5A307CAE-D4FE-61BC-0805-21617653098B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223AC839-088C-800A-C07E-E7EFC2B20FA8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8900FA75-7B51-78BA-C469-71C723B6D618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8104A54D-F4C4-6EC1-6BC0-5BC3779E6BD8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7DC6FF1-5B31-8BBF-CEA5-F04A2D0C055E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BC043EF6-68A1-26B9-1A90-80D7952738DA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FA73092C-48E3-FE2D-2DDA-314671BCB2FA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1DBD3CEA-DB45-533C-F675-B3AA252F2340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1A98F202-D5FE-85D9-1617-394A29177AFD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9833D220-BC3C-E4EF-6A33-AEEEF55D3AAF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08E26C02-A69C-8DCF-15EA-0A20F76CFA80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7D10AEEF-1C1D-6196-A8ED-080DF0CA4E44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98CF15D4-15EE-12A6-78B3-3F0ED065BAF9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7CF8C52B-4582-59F7-2A19-E5AA8D3A9342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8AA342C0-8EED-62C4-A982-D24EE7BE4492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BD2C90BF-2D80-E4B4-62F9-0E3B7A1CC6D2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DB5556CD-EE91-AC2F-5587-D458DB0C422F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A512EDD7-DB62-C172-F236-7CBEC7B6C161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627744A8-3666-84AF-23B6-20DE9942333D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574639A0-915A-1CA2-D63C-ED5B9DF5594D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9B861A95-B934-5A10-39EF-511EFAE77723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530CDA2-4A70-2274-B6FE-81A337A4D40E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F1783F43-53DA-22F9-8D60-B82B5AC358CA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3F25574E-BEBC-FDEA-E813-F92CA5453B69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FB4A53B2-F49E-9FE1-1C54-DDFB24C01179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0D673A5C-960C-2FB9-03A1-C318A6FF38B3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B0129FE1-6000-5148-72E8-035A7D4DBDD6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B68B88AA-035E-CF13-9E96-1C955D52C9F7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60EA62EB-6878-E4A7-0485-6DBC7CE09F85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EC59F86-AA8B-EECA-6E3A-95F5CAAE331E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Ключевые возможности</a:t>
            </a:r>
          </a:p>
        </p:txBody>
      </p:sp>
      <p:sp>
        <p:nvSpPr>
          <p:cNvPr id="54" name="Прямоугольник: скругленные углы 53">
            <a:extLst>
              <a:ext uri="{FF2B5EF4-FFF2-40B4-BE49-F238E27FC236}">
                <a16:creationId xmlns:a16="http://schemas.microsoft.com/office/drawing/2014/main" id="{47919DE0-BB4B-AEB8-DF7E-44C32AF6198C}"/>
              </a:ext>
            </a:extLst>
          </p:cNvPr>
          <p:cNvSpPr/>
          <p:nvPr/>
        </p:nvSpPr>
        <p:spPr>
          <a:xfrm>
            <a:off x="609600" y="6019800"/>
            <a:ext cx="10972800" cy="48260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5143F11-0028-A991-B424-211DA3B3BB4E}"/>
              </a:ext>
            </a:extLst>
          </p:cNvPr>
          <p:cNvSpPr txBox="1"/>
          <p:nvPr/>
        </p:nvSpPr>
        <p:spPr>
          <a:xfrm>
            <a:off x="838200" y="61722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00">
                <a:solidFill>
                  <a:srgbClr val="22A889"/>
                </a:solidFill>
                <a:latin typeface="Arial" panose="020B0604020202020204" pitchFamily="34" charset="0"/>
              </a:rPr>
              <a:t>ПРИМЕЧАНИЕ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C30623B-8393-4DCE-FFD4-0ED66E2E0BB3}"/>
              </a:ext>
            </a:extLst>
          </p:cNvPr>
          <p:cNvSpPr txBox="1"/>
          <p:nvPr/>
        </p:nvSpPr>
        <p:spPr>
          <a:xfrm>
            <a:off x="2006600" y="6134100"/>
            <a:ext cx="9398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150">
                <a:solidFill>
                  <a:srgbClr val="35425F"/>
                </a:solidFill>
                <a:latin typeface="Arial" panose="020B0604020202020204" pitchFamily="34" charset="0"/>
              </a:rPr>
              <a:t>Функции ограничены тем, что нужно для учёта бюджета и уместного промокода — ничего лишнего.</a:t>
            </a:r>
          </a:p>
        </p:txBody>
      </p:sp>
      <p:sp>
        <p:nvSpPr>
          <p:cNvPr id="9013" name="Card container 0"/>
          <p:cNvSpPr/>
          <p:nvPr/>
        </p:nvSpPr>
        <p:spPr>
          <a:xfrm>
            <a:off x="609600" y="2794000"/>
            <a:ext cx="3521710" cy="2971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014" name="Card badge 0"/>
          <p:cNvSpPr/>
          <p:nvPr/>
        </p:nvSpPr>
        <p:spPr>
          <a:xfrm>
            <a:off x="863600" y="30480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01</a:t>
            </a:r>
          </a:p>
        </p:txBody>
      </p:sp>
      <p:sp>
        <p:nvSpPr>
          <p:cNvPr id="9015" name="Card title 0"/>
          <p:cNvSpPr txBox="1"/>
          <p:nvPr/>
        </p:nvSpPr>
        <p:spPr>
          <a:xfrm>
            <a:off x="863600" y="358140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>
                <a:solidFill>
                  <a:srgbClr val="22A889"/>
                </a:solidFill>
                <a:latin typeface="Arial" panose="020B0604020202020204" pitchFamily="34" charset="0"/>
              </a:rPr>
              <a:t>Учёт трат в диалоге</a:t>
            </a:r>
          </a:p>
        </p:txBody>
      </p:sp>
      <p:sp>
        <p:nvSpPr>
          <p:cNvPr id="9016" name="Card desc 0"/>
          <p:cNvSpPr txBox="1"/>
          <p:nvPr/>
        </p:nvSpPr>
        <p:spPr>
          <a:xfrm>
            <a:off x="863600" y="3886200"/>
            <a:ext cx="30137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>
                <a:solidFill>
                  <a:srgbClr val="0F1B3D"/>
                </a:solidFill>
                <a:latin typeface="Arial" panose="020B0604020202020204" pitchFamily="34" charset="0"/>
              </a:rPr>
              <a:t>Студент присылает боту трату сообщением — Финик сам раскладывает её по категориям</a:t>
            </a:r>
          </a:p>
        </p:txBody>
      </p:sp>
      <p:sp>
        <p:nvSpPr>
          <p:cNvPr id="9017" name="Card container 1"/>
          <p:cNvSpPr/>
          <p:nvPr/>
        </p:nvSpPr>
        <p:spPr>
          <a:xfrm>
            <a:off x="4334510" y="2794000"/>
            <a:ext cx="3521710" cy="2971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018" name="Card badge 1"/>
          <p:cNvSpPr/>
          <p:nvPr/>
        </p:nvSpPr>
        <p:spPr>
          <a:xfrm>
            <a:off x="4588510" y="30480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02</a:t>
            </a:r>
          </a:p>
        </p:txBody>
      </p:sp>
      <p:sp>
        <p:nvSpPr>
          <p:cNvPr id="9019" name="Card title 1"/>
          <p:cNvSpPr txBox="1"/>
          <p:nvPr/>
        </p:nvSpPr>
        <p:spPr>
          <a:xfrm>
            <a:off x="4588510" y="358140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>
                <a:solidFill>
                  <a:srgbClr val="22A889"/>
                </a:solidFill>
                <a:latin typeface="Arial" panose="020B0604020202020204" pitchFamily="34" charset="0"/>
              </a:rPr>
              <a:t>Бюджет и лимиты</a:t>
            </a:r>
          </a:p>
        </p:txBody>
      </p:sp>
      <p:sp>
        <p:nvSpPr>
          <p:cNvPr id="9020" name="Card desc 1"/>
          <p:cNvSpPr txBox="1"/>
          <p:nvPr/>
        </p:nvSpPr>
        <p:spPr>
          <a:xfrm>
            <a:off x="4588510" y="3886200"/>
            <a:ext cx="30137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>
                <a:solidFill>
                  <a:srgbClr val="0F1B3D"/>
                </a:solidFill>
                <a:latin typeface="Arial" panose="020B0604020202020204" pitchFamily="34" charset="0"/>
              </a:rPr>
              <a:t>Бот считает, сколько денег осталось до стипендии, и предупреждает о превышении плана</a:t>
            </a:r>
          </a:p>
        </p:txBody>
      </p:sp>
      <p:sp>
        <p:nvSpPr>
          <p:cNvPr id="9021" name="Card container 2"/>
          <p:cNvSpPr/>
          <p:nvPr/>
        </p:nvSpPr>
        <p:spPr>
          <a:xfrm>
            <a:off x="8059420" y="2794000"/>
            <a:ext cx="3521710" cy="2971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022" name="Card badge 2"/>
          <p:cNvSpPr/>
          <p:nvPr/>
        </p:nvSpPr>
        <p:spPr>
          <a:xfrm>
            <a:off x="8313420" y="30480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03</a:t>
            </a:r>
          </a:p>
        </p:txBody>
      </p:sp>
      <p:sp>
        <p:nvSpPr>
          <p:cNvPr id="9023" name="Card title 2"/>
          <p:cNvSpPr txBox="1"/>
          <p:nvPr/>
        </p:nvSpPr>
        <p:spPr>
          <a:xfrm>
            <a:off x="8313420" y="358140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>
                <a:solidFill>
                  <a:srgbClr val="22A889"/>
                </a:solidFill>
                <a:latin typeface="Arial" panose="020B0604020202020204" pitchFamily="34" charset="0"/>
              </a:rPr>
              <a:t>Промокоды от партнёров</a:t>
            </a:r>
          </a:p>
        </p:txBody>
      </p:sp>
      <p:sp>
        <p:nvSpPr>
          <p:cNvPr id="9024" name="Card desc 2"/>
          <p:cNvSpPr txBox="1"/>
          <p:nvPr/>
        </p:nvSpPr>
        <p:spPr>
          <a:xfrm>
            <a:off x="8313420" y="3886200"/>
            <a:ext cx="30137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>
                <a:solidFill>
                  <a:srgbClr val="0F1B3D"/>
                </a:solidFill>
                <a:latin typeface="Arial" panose="020B0604020202020204" pitchFamily="34" charset="0"/>
              </a:rPr>
              <a:t>ИИ ненавязчиво предлагает промокод компании-партнёра, когда он в тему разговора</a:t>
            </a:r>
          </a:p>
        </p:txBody>
      </p:sp>
    </p:spTree>
    <p:extLst>
      <p:ext uri="{BB962C8B-B14F-4D97-AF65-F5344CB8AC3E}">
        <p14:creationId xmlns:p14="http://schemas.microsoft.com/office/powerpoint/2010/main" val="2801936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84B0E2-BBA5-CE43-2543-85574D320A31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ГЛАВНОЕ ОТЛИЧИЕ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9A137-FAF5-F0BB-0F3D-4B6FDC1B9B9C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08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6B467314-FDC2-EDD7-8B52-F22FCB9C08A5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D23B2A64-18F5-E291-1A6E-FEEA3E071C06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BA97DEB-3209-6C4F-1222-38F69B6F8645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7C2A37FD-960B-EA9B-FBE4-A13DD79E66A3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F29764A-0A37-BF7A-D00A-B8A6DE76E105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00BFCA72-4940-49D5-F42E-4273E35A4A43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9693858-1E11-C515-0FF4-0E51805A1042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DD393096-A2B0-6CC4-E411-4BCEE217562A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BB76C3D-02C0-16F2-034B-BCF6950BEACB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C08B162A-1E45-3F79-B84C-9278FAC37B9D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4FCF9285-84CD-CC8A-A2BB-8E77E3F8AF3F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E1ECC5F7-9E77-3CC7-B4B4-1AB9E695A650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A5C04CC1-C621-4BB7-563A-BDD786B564D9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19769C0F-0DFC-406C-03CF-248BEF4CF96E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E75A6BB7-9ADE-53FF-33EF-D3328FD3836D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D1CF1239-BA43-56D8-4E52-EC3367417E0F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E274341B-0086-8359-F3F4-495680513874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52831725-310E-003B-660E-B62C33244B25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EE3D8DF4-E120-1A63-ABE0-306191FA2426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7521F739-4152-9755-7891-54D50BA29B17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63834688-7880-ADA2-4948-AFF17BEE31DA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46A58923-AA62-A71F-D9B0-ADA7D068D172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8FCBE72C-8843-E76C-567A-8C4D749FC558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39B5C589-A8B9-00BD-8401-DBBCF2C6CB6C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058D8DFF-2D91-9160-7D0C-8986508CAD9B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7AEFF877-9A21-1777-5831-E764827FB1B5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A5728125-4E74-3463-FC12-98C6CCC7ABE8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0CE4F64C-9681-DB7B-1FB2-4FC23738DEB7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58CC6418-743D-D9C8-9C98-BC096C8845EC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6091AF9-D03D-A387-6A36-0B73C91FF6E8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 dirty="0">
                <a:solidFill>
                  <a:srgbClr val="0F1B3D"/>
                </a:solidFill>
                <a:latin typeface="Arial Black" panose="020B0A04020102020204" pitchFamily="34" charset="0"/>
              </a:rPr>
              <a:t>Киллер фича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88D7D58A-0C16-37DF-608B-E9694CE5FBA4}"/>
              </a:ext>
            </a:extLst>
          </p:cNvPr>
          <p:cNvSpPr/>
          <p:nvPr/>
        </p:nvSpPr>
        <p:spPr>
          <a:xfrm>
            <a:off x="609600" y="1320800"/>
            <a:ext cx="6604000" cy="4445000"/>
          </a:xfrm>
          <a:prstGeom prst="roundRect">
            <a:avLst>
              <a:gd name="adj" fmla="val 7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F6D6F9-7A53-A14F-C08B-E5EDAADDF435}"/>
              </a:ext>
            </a:extLst>
          </p:cNvPr>
          <p:cNvSpPr txBox="1"/>
          <p:nvPr/>
        </p:nvSpPr>
        <p:spPr>
          <a:xfrm>
            <a:off x="965200" y="1625600"/>
            <a:ext cx="381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КЛЮЧЕВАЯ ОСОБЕННОСТЬ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7AB334-E83C-1D97-3B27-1B9ED279A809}"/>
              </a:ext>
            </a:extLst>
          </p:cNvPr>
          <p:cNvSpPr txBox="1"/>
          <p:nvPr/>
        </p:nvSpPr>
        <p:spPr>
          <a:xfrm>
            <a:off x="965200" y="1905000"/>
            <a:ext cx="58928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600">
                <a:solidFill>
                  <a:srgbClr val="FFFFFF"/>
                </a:solidFill>
                <a:latin typeface="Arial Black" panose="020B0A04020102020204" pitchFamily="34" charset="0"/>
              </a:rPr>
              <a:t>Реклама, которую ИИ пишет прямо в разговоре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4439CE-BB05-85AA-22EA-E95F3675CEB1}"/>
              </a:ext>
            </a:extLst>
          </p:cNvPr>
          <p:cNvSpPr txBox="1"/>
          <p:nvPr/>
        </p:nvSpPr>
        <p:spPr>
          <a:xfrm>
            <a:off x="965200" y="3251200"/>
            <a:ext cx="58928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>
                <a:solidFill>
                  <a:srgbClr val="FFFFFF"/>
                </a:solidFill>
                <a:latin typeface="Arial" panose="020B0604020202020204" pitchFamily="34" charset="0"/>
              </a:rPr>
              <a:t>Баннеры игнорируют, а совет от бота, к месту и по делу, — читают и используют. Это редкий формат рекламы, которому доверяют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75DD55FA-F417-57F2-FC02-87E3AD6E8718}"/>
              </a:ext>
            </a:extLst>
          </p:cNvPr>
          <p:cNvSpPr/>
          <p:nvPr/>
        </p:nvSpPr>
        <p:spPr>
          <a:xfrm>
            <a:off x="965200" y="4673600"/>
            <a:ext cx="5892800" cy="736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EAB993-EA63-698E-0DC5-7FE12E42EBE7}"/>
              </a:ext>
            </a:extLst>
          </p:cNvPr>
          <p:cNvSpPr txBox="1"/>
          <p:nvPr/>
        </p:nvSpPr>
        <p:spPr>
          <a:xfrm>
            <a:off x="1219200" y="4800600"/>
            <a:ext cx="5384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22A889"/>
                </a:solidFill>
                <a:latin typeface="Arial" panose="020B0604020202020204" pitchFamily="34" charset="0"/>
              </a:rPr>
              <a:t>ЭФФЕКТ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4A404D-A6FF-D615-DA5F-4BC95DA44369}"/>
              </a:ext>
            </a:extLst>
          </p:cNvPr>
          <p:cNvSpPr txBox="1"/>
          <p:nvPr/>
        </p:nvSpPr>
        <p:spPr>
          <a:xfrm>
            <a:off x="1219200" y="4978400"/>
            <a:ext cx="5384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 b="1" dirty="0">
                <a:solidFill>
                  <a:srgbClr val="0F1B3D"/>
                </a:solidFill>
                <a:latin typeface="Arial" panose="020B0604020202020204" pitchFamily="34" charset="0"/>
              </a:rPr>
              <a:t>Пока не измерено — проверим конверсию </a:t>
            </a:r>
            <a:r>
              <a:rPr lang="ru-RU" sz="1300" b="1" dirty="0" err="1">
                <a:solidFill>
                  <a:srgbClr val="0F1B3D"/>
                </a:solidFill>
                <a:latin typeface="Arial" panose="020B0604020202020204" pitchFamily="34" charset="0"/>
              </a:rPr>
              <a:t>промокодов</a:t>
            </a:r>
            <a:r>
              <a:rPr lang="ru-RU" sz="1300" b="1" dirty="0">
                <a:solidFill>
                  <a:srgbClr val="0F1B3D"/>
                </a:solidFill>
                <a:latin typeface="Arial" panose="020B0604020202020204" pitchFamily="34" charset="0"/>
              </a:rPr>
              <a:t> на пилоте с первыми партнёрами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4D0987-F041-1882-B43E-5EA94F101509}"/>
              </a:ext>
            </a:extLst>
          </p:cNvPr>
          <p:cNvSpPr txBox="1"/>
          <p:nvPr/>
        </p:nvSpPr>
        <p:spPr>
          <a:xfrm>
            <a:off x="7518400" y="1320800"/>
            <a:ext cx="406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 b="1" spc="150">
                <a:solidFill>
                  <a:srgbClr val="22A889"/>
                </a:solidFill>
                <a:latin typeface="Arial" panose="020B0604020202020204" pitchFamily="34" charset="0"/>
              </a:rPr>
              <a:t>ЧЕМ ОТЛИЧАЕМСЯ?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967FB96B-A6EE-E690-9DBB-7966D47161A9}"/>
              </a:ext>
            </a:extLst>
          </p:cNvPr>
          <p:cNvSpPr/>
          <p:nvPr/>
        </p:nvSpPr>
        <p:spPr>
          <a:xfrm>
            <a:off x="7518400" y="1625600"/>
            <a:ext cx="4064000" cy="19304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31BA54BD-5EE8-2EEF-0076-CCD1FADE455B}"/>
              </a:ext>
            </a:extLst>
          </p:cNvPr>
          <p:cNvSpPr/>
          <p:nvPr/>
        </p:nvSpPr>
        <p:spPr>
          <a:xfrm>
            <a:off x="7772400" y="18796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F110B5-BF8A-9CD9-7525-684F0A4EAFC9}"/>
              </a:ext>
            </a:extLst>
          </p:cNvPr>
          <p:cNvSpPr txBox="1"/>
          <p:nvPr/>
        </p:nvSpPr>
        <p:spPr>
          <a:xfrm>
            <a:off x="7772400" y="2387600"/>
            <a:ext cx="355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 b="1">
                <a:solidFill>
                  <a:srgbClr val="0F1B3D"/>
                </a:solidFill>
                <a:latin typeface="Arial" panose="020B0604020202020204" pitchFamily="34" charset="0"/>
              </a:rPr>
              <a:t>Иначе, чем у других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D3A045-6F58-AB1D-C1AB-3E99EFCA92FD}"/>
              </a:ext>
            </a:extLst>
          </p:cNvPr>
          <p:cNvSpPr txBox="1"/>
          <p:nvPr/>
        </p:nvSpPr>
        <p:spPr>
          <a:xfrm>
            <a:off x="7772400" y="2717800"/>
            <a:ext cx="35560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>
                <a:solidFill>
                  <a:srgbClr val="6B7892"/>
                </a:solidFill>
                <a:latin typeface="Arial" panose="020B0604020202020204" pitchFamily="34" charset="0"/>
              </a:rPr>
              <a:t>Финансовые приложения показывают баннер или пуш отдельно от контента. Финик вплетает промокод партнёра в сам ответ ИИ о трате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5231C5F1-695B-7DFC-0F7C-1FFAC9C9A504}"/>
              </a:ext>
            </a:extLst>
          </p:cNvPr>
          <p:cNvSpPr/>
          <p:nvPr/>
        </p:nvSpPr>
        <p:spPr>
          <a:xfrm>
            <a:off x="7518400" y="3759200"/>
            <a:ext cx="4064000" cy="19304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D4C1B504-3D8D-0637-1DB8-DA223FE1631B}"/>
              </a:ext>
            </a:extLst>
          </p:cNvPr>
          <p:cNvSpPr/>
          <p:nvPr/>
        </p:nvSpPr>
        <p:spPr>
          <a:xfrm>
            <a:off x="7772400" y="40132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8BA849-EBEF-43DC-A451-81F89188BBE0}"/>
              </a:ext>
            </a:extLst>
          </p:cNvPr>
          <p:cNvSpPr txBox="1"/>
          <p:nvPr/>
        </p:nvSpPr>
        <p:spPr>
          <a:xfrm>
            <a:off x="7772400" y="4521200"/>
            <a:ext cx="355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 b="1">
                <a:solidFill>
                  <a:srgbClr val="0F1B3D"/>
                </a:solidFill>
                <a:latin typeface="Arial" panose="020B0604020202020204" pitchFamily="34" charset="0"/>
              </a:rPr>
              <a:t>Эффект для пользователя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050B8CC-2CAD-8636-25C7-67EAC6757C7B}"/>
              </a:ext>
            </a:extLst>
          </p:cNvPr>
          <p:cNvSpPr txBox="1"/>
          <p:nvPr/>
        </p:nvSpPr>
        <p:spPr>
          <a:xfrm>
            <a:off x="7772400" y="4851400"/>
            <a:ext cx="35560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>
                <a:solidFill>
                  <a:srgbClr val="6B7892"/>
                </a:solidFill>
                <a:latin typeface="Arial" panose="020B0604020202020204" pitchFamily="34" charset="0"/>
              </a:rPr>
              <a:t>Студент видит предложение именно в момент, когда оно закрывает конкретную трату, а не скроллит рекламу мимо</a:t>
            </a:r>
          </a:p>
        </p:txBody>
      </p: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649AF7D0-D0AF-9737-FABB-9F800EFCB448}"/>
              </a:ext>
            </a:extLst>
          </p:cNvPr>
          <p:cNvSpPr/>
          <p:nvPr/>
        </p:nvSpPr>
        <p:spPr>
          <a:xfrm>
            <a:off x="609600" y="6019800"/>
            <a:ext cx="10972800" cy="48260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489595-C1D6-C312-248F-621EDCBE6ED4}"/>
              </a:ext>
            </a:extLst>
          </p:cNvPr>
          <p:cNvSpPr txBox="1"/>
          <p:nvPr/>
        </p:nvSpPr>
        <p:spPr>
          <a:xfrm>
            <a:off x="838200" y="61722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00" dirty="0">
                <a:solidFill>
                  <a:srgbClr val="22A889"/>
                </a:solidFill>
                <a:latin typeface="Arial" panose="020B0604020202020204" pitchFamily="34" charset="0"/>
              </a:rPr>
              <a:t>ПРИМЕЧАНИЕ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810874-AA95-1935-4234-D83823D850A3}"/>
              </a:ext>
            </a:extLst>
          </p:cNvPr>
          <p:cNvSpPr txBox="1"/>
          <p:nvPr/>
        </p:nvSpPr>
        <p:spPr>
          <a:xfrm>
            <a:off x="2006600" y="6134100"/>
            <a:ext cx="9398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150">
                <a:solidFill>
                  <a:srgbClr val="35425F"/>
                </a:solidFill>
                <a:latin typeface="Arial" panose="020B0604020202020204" pitchFamily="34" charset="0"/>
              </a:rPr>
              <a:t>Проверим гипотезу контекстной рекламы на пилоте с первыми компаниями-партнёрами.</a:t>
            </a:r>
          </a:p>
        </p:txBody>
      </p:sp>
    </p:spTree>
    <p:extLst>
      <p:ext uri="{BB962C8B-B14F-4D97-AF65-F5344CB8AC3E}">
        <p14:creationId xmlns:p14="http://schemas.microsoft.com/office/powerpoint/2010/main" val="354533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52A8FA-2092-457E-3280-3F68053C5E45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E2C382-51D4-49F5-8358-BAD0D255D1AD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09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4A218C37-98E6-4DFF-CC79-3DE0FD615BBC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FE09DBC5-86BA-CA7B-2FAA-857961E5DAE1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F3B09AB-9174-D36B-951F-5C706CE713A0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63194180-8BE1-D5BD-8659-1310948872B6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9756EB55-DFA5-69A2-6A44-E3D91E821CD2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88C1280D-3E4D-D2E4-F2EE-5ABC6ACC0FBA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70CCD9BB-18A0-B425-294B-166D052BD7F0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06DC5417-1371-6668-54DE-446A5996A927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9A64FA6-02B6-B0DF-020D-36FBFC1E67D0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AC1FB737-E6A6-3C01-22EE-D76FC4CAC01E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C3C57E28-9357-12D3-9259-E0BAAF28E554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B688EE07-F4D7-3AE7-5F68-E6BCC33026F1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6B8E5EFE-4E84-5878-0732-D0FAA9292712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F4097696-C1ED-35D4-C464-9738C07544F6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4F066E6A-3459-2031-85D2-E432C7662D08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78644A8A-6295-B751-6ACC-9E07915F2FC2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31EFFE68-616E-7D84-F880-EFEFB242CDF9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A0FB814B-4E09-E75A-6102-57A51BA642C2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0FC6135C-9645-7B9A-9014-6F90AC7C8739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C6947C61-E56F-985B-4461-EF2C55DB2164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16DEC0BD-98BF-8DB4-8D65-F27844B8EFF8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FB831DAA-56ED-AAD2-DACA-154B00A1BFB3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E97A4B78-6E10-BD17-DE81-976DCE8CD945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1613DB59-F43B-7790-BF71-3B939508EE59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710EC174-52C4-0825-9E4F-9E6669D7EB41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E71E1B4E-F208-7713-C571-EE532F36A8C7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5197D6AD-55AB-BD54-74D3-0333A347750A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5D705E6F-070E-151D-32D5-28FE5FAD8895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48073DBB-3E53-5907-92C9-666649EB5725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4833F4D-08D2-DDAC-5FB1-CB1862CE0F93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Как это работает</a:t>
            </a:r>
          </a:p>
        </p:txBody>
      </p:sp>
      <p:sp>
        <p:nvSpPr>
          <p:cNvPr id="57" name="Прямоугольник: скругленные углы 56">
            <a:extLst>
              <a:ext uri="{FF2B5EF4-FFF2-40B4-BE49-F238E27FC236}">
                <a16:creationId xmlns:a16="http://schemas.microsoft.com/office/drawing/2014/main" id="{E440E92F-CDE7-FF2D-BE0D-A9A131D55EC4}"/>
              </a:ext>
            </a:extLst>
          </p:cNvPr>
          <p:cNvSpPr/>
          <p:nvPr/>
        </p:nvSpPr>
        <p:spPr>
          <a:xfrm>
            <a:off x="609600" y="6019800"/>
            <a:ext cx="10972800" cy="48260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BB5A9C0-EC55-E134-EED4-257B0D2FEE8D}"/>
              </a:ext>
            </a:extLst>
          </p:cNvPr>
          <p:cNvSpPr txBox="1"/>
          <p:nvPr/>
        </p:nvSpPr>
        <p:spPr>
          <a:xfrm>
            <a:off x="838200" y="61722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00">
                <a:solidFill>
                  <a:srgbClr val="22A889"/>
                </a:solidFill>
                <a:latin typeface="Arial" panose="020B0604020202020204" pitchFamily="34" charset="0"/>
              </a:rPr>
              <a:t>ПРИМЕЧАНИЕ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7569FE7-D884-19DE-27D2-436AC78C955B}"/>
              </a:ext>
            </a:extLst>
          </p:cNvPr>
          <p:cNvSpPr txBox="1"/>
          <p:nvPr/>
        </p:nvSpPr>
        <p:spPr>
          <a:xfrm>
            <a:off x="2006600" y="6134100"/>
            <a:ext cx="9398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150">
                <a:solidFill>
                  <a:srgbClr val="35425F"/>
                </a:solidFill>
                <a:latin typeface="Arial" panose="020B0604020202020204" pitchFamily="34" charset="0"/>
              </a:rPr>
              <a:t>Путь занимает одно сообщение — от траты до совета бота.</a:t>
            </a:r>
          </a:p>
        </p:txBody>
      </p:sp>
      <p:sp>
        <p:nvSpPr>
          <p:cNvPr id="9025" name="Card container 0"/>
          <p:cNvSpPr/>
          <p:nvPr/>
        </p:nvSpPr>
        <p:spPr>
          <a:xfrm>
            <a:off x="609600" y="2794000"/>
            <a:ext cx="3521710" cy="2971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026" name="Card badge 0"/>
          <p:cNvSpPr/>
          <p:nvPr/>
        </p:nvSpPr>
        <p:spPr>
          <a:xfrm>
            <a:off x="863600" y="30480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01</a:t>
            </a:r>
          </a:p>
        </p:txBody>
      </p:sp>
      <p:sp>
        <p:nvSpPr>
          <p:cNvPr id="9027" name="Card title 0"/>
          <p:cNvSpPr txBox="1"/>
          <p:nvPr/>
        </p:nvSpPr>
        <p:spPr>
          <a:xfrm>
            <a:off x="863600" y="358140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>
                <a:solidFill>
                  <a:srgbClr val="22A889"/>
                </a:solidFill>
                <a:latin typeface="Arial" panose="020B0604020202020204" pitchFamily="34" charset="0"/>
              </a:rPr>
              <a:t>Студент пишет о трате</a:t>
            </a:r>
          </a:p>
        </p:txBody>
      </p:sp>
      <p:sp>
        <p:nvSpPr>
          <p:cNvPr id="9028" name="Card desc 0"/>
          <p:cNvSpPr txBox="1"/>
          <p:nvPr/>
        </p:nvSpPr>
        <p:spPr>
          <a:xfrm>
            <a:off x="863600" y="3886200"/>
            <a:ext cx="30137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>
                <a:solidFill>
                  <a:srgbClr val="0F1B3D"/>
                </a:solidFill>
                <a:latin typeface="Arial" panose="020B0604020202020204" pitchFamily="34" charset="0"/>
              </a:rPr>
              <a:t>Например: «потратил 400 ₽ на кофе» — текстом в Telegram, без открытия отдельного приложения</a:t>
            </a:r>
          </a:p>
        </p:txBody>
      </p:sp>
      <p:sp>
        <p:nvSpPr>
          <p:cNvPr id="9029" name="Card container 1"/>
          <p:cNvSpPr/>
          <p:nvPr/>
        </p:nvSpPr>
        <p:spPr>
          <a:xfrm>
            <a:off x="4334510" y="2794000"/>
            <a:ext cx="3521710" cy="2971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030" name="Card badge 1"/>
          <p:cNvSpPr/>
          <p:nvPr/>
        </p:nvSpPr>
        <p:spPr>
          <a:xfrm>
            <a:off x="4588510" y="30480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02</a:t>
            </a:r>
          </a:p>
        </p:txBody>
      </p:sp>
      <p:sp>
        <p:nvSpPr>
          <p:cNvPr id="9031" name="Card title 1"/>
          <p:cNvSpPr txBox="1"/>
          <p:nvPr/>
        </p:nvSpPr>
        <p:spPr>
          <a:xfrm>
            <a:off x="4588510" y="358140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>
                <a:solidFill>
                  <a:srgbClr val="22A889"/>
                </a:solidFill>
                <a:latin typeface="Arial" panose="020B0604020202020204" pitchFamily="34" charset="0"/>
              </a:rPr>
              <a:t>Финик считает бюджет</a:t>
            </a:r>
          </a:p>
        </p:txBody>
      </p:sp>
      <p:sp>
        <p:nvSpPr>
          <p:cNvPr id="9032" name="Card desc 1"/>
          <p:cNvSpPr txBox="1"/>
          <p:nvPr/>
        </p:nvSpPr>
        <p:spPr>
          <a:xfrm>
            <a:off x="4588510" y="3886200"/>
            <a:ext cx="30137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>
                <a:solidFill>
                  <a:srgbClr val="0F1B3D"/>
                </a:solidFill>
                <a:latin typeface="Arial" panose="020B0604020202020204" pitchFamily="34" charset="0"/>
              </a:rPr>
              <a:t>Бот раскладывает трату по категории и показывает остаток до стипендии</a:t>
            </a:r>
          </a:p>
        </p:txBody>
      </p:sp>
      <p:sp>
        <p:nvSpPr>
          <p:cNvPr id="9033" name="Card container 2"/>
          <p:cNvSpPr/>
          <p:nvPr/>
        </p:nvSpPr>
        <p:spPr>
          <a:xfrm>
            <a:off x="8059420" y="2794000"/>
            <a:ext cx="3521710" cy="2971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034" name="Card badge 2"/>
          <p:cNvSpPr/>
          <p:nvPr/>
        </p:nvSpPr>
        <p:spPr>
          <a:xfrm>
            <a:off x="8313420" y="3048000"/>
            <a:ext cx="431800" cy="3302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2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 Black" panose="020B0A04020102020204" pitchFamily="34" charset="0"/>
              </a:rPr>
              <a:t>03</a:t>
            </a:r>
          </a:p>
        </p:txBody>
      </p:sp>
      <p:sp>
        <p:nvSpPr>
          <p:cNvPr id="9035" name="Card title 2"/>
          <p:cNvSpPr txBox="1"/>
          <p:nvPr/>
        </p:nvSpPr>
        <p:spPr>
          <a:xfrm>
            <a:off x="8313420" y="3581400"/>
            <a:ext cx="301371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100">
                <a:solidFill>
                  <a:srgbClr val="22A889"/>
                </a:solidFill>
                <a:latin typeface="Arial" panose="020B0604020202020204" pitchFamily="34" charset="0"/>
              </a:rPr>
              <a:t>ИИ подсказывает промокод</a:t>
            </a:r>
          </a:p>
        </p:txBody>
      </p:sp>
      <p:sp>
        <p:nvSpPr>
          <p:cNvPr id="9036" name="Card desc 2"/>
          <p:cNvSpPr txBox="1"/>
          <p:nvPr/>
        </p:nvSpPr>
        <p:spPr>
          <a:xfrm>
            <a:off x="8313420" y="3886200"/>
            <a:ext cx="30137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400">
                <a:solidFill>
                  <a:srgbClr val="0F1B3D"/>
                </a:solidFill>
                <a:latin typeface="Arial" panose="020B0604020202020204" pitchFamily="34" charset="0"/>
              </a:rPr>
              <a:t>Если у партнёра есть релевантное предложение, бот вставляет его в ответ — по теме и без баннеров</a:t>
            </a:r>
          </a:p>
        </p:txBody>
      </p:sp>
    </p:spTree>
    <p:extLst>
      <p:ext uri="{BB962C8B-B14F-4D97-AF65-F5344CB8AC3E}">
        <p14:creationId xmlns:p14="http://schemas.microsoft.com/office/powerpoint/2010/main" val="2363423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9AF0EA-3893-25ED-4B51-D9A60A735B08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E067A4-A2D6-ADFA-4F31-D1F5656763F0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10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864B0945-D2C5-8C7B-9758-E18732F78CBC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99C7B47C-7408-3FF4-156A-0CD3D73F7321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61B322C-1D7B-CC04-7E36-B09048B74CF3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89F17F71-6218-69E5-05B1-EEE247C10938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35A30F7-ED53-AC9D-34FB-4F6925F3C51C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46A0A320-EE7E-94CD-926F-B635F41512FD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FE5F157-ECEC-F3BA-AC01-B9A45577ED7E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F01AE495-B83D-BFBA-9E32-137DCA2E4598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25621DC9-3A43-2057-CB99-29031D4CE09F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7E7A7406-D636-75EE-DE77-4320E29C403E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D2636A01-5FA0-1877-8CD7-B6A7B565A609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B7DA5A7F-18ED-1943-CD32-133FFAE3DEE0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AA2B505B-D50B-A589-5852-619B14C50AF8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A70926D9-6D6C-524D-5CE5-D96A51C50F59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B106AF4B-E091-8C73-1A44-61D7A70A6563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58C0B827-25E2-6D1F-51B5-73FF7751497F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BED21031-2AF0-1DA6-03A7-CC62A4EF8193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7EA49635-2F7F-234A-3BD4-33D753A0C9FC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ED0ABB53-38A5-8938-FDB5-649BFE76AC9D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19823465-39A0-6EBA-E640-7C673001CCF2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F3237425-D3A1-C61B-2C53-5686F6837445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C3537D7-FA97-643C-A3AE-E34FA7EBECBD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003B2ECC-1484-BFE6-7B9D-11C1BC44AD55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3361B713-DA77-10B9-A687-1D2648CDE3A3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1BB85CCA-6935-AD28-8D58-E6F058B59E31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ECB25BFA-8EED-A1CC-B5FB-D93D589F08AA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4990E04E-D57B-D175-BBB8-26F81DAA2C08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BD6B8225-2A81-901A-AFE2-6C4934A03F7D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A833F5E4-357F-260D-F5F4-7B17B46CCB3A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18495C1-04CD-2622-03E6-2C0033777545}"/>
              </a:ext>
            </a:extLst>
          </p:cNvPr>
          <p:cNvSpPr txBox="1"/>
          <p:nvPr/>
        </p:nvSpPr>
        <p:spPr>
          <a:xfrm>
            <a:off x="859790" y="62103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Рабочий прототип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A8515288-D36C-7503-11A5-D6602490E9D4}"/>
              </a:ext>
            </a:extLst>
          </p:cNvPr>
          <p:cNvSpPr/>
          <p:nvPr/>
        </p:nvSpPr>
        <p:spPr>
          <a:xfrm>
            <a:off x="1660124" y="1320800"/>
            <a:ext cx="4891596" cy="444500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15875">
            <a:solidFill>
              <a:srgbClr val="9FB3C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C1AC70-CCF8-7D1A-5760-185BACB2EF0C}"/>
              </a:ext>
            </a:extLst>
          </p:cNvPr>
          <p:cNvSpPr txBox="1"/>
          <p:nvPr/>
        </p:nvSpPr>
        <p:spPr>
          <a:xfrm>
            <a:off x="2246745" y="2897909"/>
            <a:ext cx="304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ru-RU" sz="1200" b="1" dirty="0">
                <a:solidFill>
                  <a:srgbClr val="6B7892"/>
                </a:solidFill>
                <a:latin typeface="Arial" panose="020B0604020202020204" pitchFamily="34" charset="0"/>
              </a:rPr>
              <a:t>Можно вставить </a:t>
            </a:r>
            <a:r>
              <a:rPr lang="ru-RU" sz="1200" b="1" dirty="0" err="1">
                <a:solidFill>
                  <a:srgbClr val="6B7892"/>
                </a:solidFill>
                <a:latin typeface="Arial" panose="020B0604020202020204" pitchFamily="34" charset="0"/>
              </a:rPr>
              <a:t>скринкастт</a:t>
            </a:r>
            <a:endParaRPr lang="ru-RU" sz="1200" b="1" dirty="0">
              <a:solidFill>
                <a:srgbClr val="6B7892"/>
              </a:solidFill>
              <a:latin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E92107-8E08-EAE3-4F8B-E4BAEA5F68BF}"/>
              </a:ext>
            </a:extLst>
          </p:cNvPr>
          <p:cNvSpPr txBox="1"/>
          <p:nvPr/>
        </p:nvSpPr>
        <p:spPr>
          <a:xfrm>
            <a:off x="812800" y="3568700"/>
            <a:ext cx="304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endParaRPr lang="ru-RU" sz="1000" dirty="0">
              <a:solidFill>
                <a:srgbClr val="6B7892"/>
              </a:solidFill>
              <a:latin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162A8B-721D-8E63-53FD-CB347BCF3D30}"/>
              </a:ext>
            </a:extLst>
          </p:cNvPr>
          <p:cNvSpPr txBox="1"/>
          <p:nvPr/>
        </p:nvSpPr>
        <p:spPr>
          <a:xfrm>
            <a:off x="4470400" y="3568700"/>
            <a:ext cx="304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endParaRPr lang="ru-RU" sz="1000" dirty="0">
              <a:solidFill>
                <a:srgbClr val="6B7892"/>
              </a:solidFill>
              <a:latin typeface="Arial" panose="020B0604020202020204" pitchFamily="34" charset="0"/>
            </a:endParaRP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0D47CA82-D99E-75E6-8E9D-75D9299071CC}"/>
              </a:ext>
            </a:extLst>
          </p:cNvPr>
          <p:cNvSpPr/>
          <p:nvPr/>
        </p:nvSpPr>
        <p:spPr>
          <a:xfrm>
            <a:off x="7924800" y="1320800"/>
            <a:ext cx="3657600" cy="4445000"/>
          </a:xfrm>
          <a:prstGeom prst="roundRect">
            <a:avLst>
              <a:gd name="adj" fmla="val 7000"/>
            </a:avLst>
          </a:prstGeom>
          <a:solidFill>
            <a:srgbClr val="0F1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CD6B02-9A64-74F6-3F56-1AADBD928CA1}"/>
              </a:ext>
            </a:extLst>
          </p:cNvPr>
          <p:cNvSpPr txBox="1"/>
          <p:nvPr/>
        </p:nvSpPr>
        <p:spPr>
          <a:xfrm>
            <a:off x="8229600" y="1600200"/>
            <a:ext cx="254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7FE3C4"/>
                </a:solidFill>
                <a:latin typeface="Arial Black" panose="020B0A04020102020204" pitchFamily="34" charset="0"/>
              </a:rPr>
              <a:t>MVP</a:t>
            </a:r>
            <a:endParaRPr lang="ru-RU" sz="2400">
              <a:solidFill>
                <a:srgbClr val="7FE3C4"/>
              </a:solidFill>
              <a:latin typeface="Arial Black" panose="020B0A040201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7E5ABA-3DEC-CBAB-E980-B1DC8764FF97}"/>
              </a:ext>
            </a:extLst>
          </p:cNvPr>
          <p:cNvSpPr txBox="1"/>
          <p:nvPr/>
        </p:nvSpPr>
        <p:spPr>
          <a:xfrm>
            <a:off x="8229600" y="2235200"/>
            <a:ext cx="304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7FE3C4"/>
                </a:solidFill>
                <a:latin typeface="Arial" panose="020B0604020202020204" pitchFamily="34" charset="0"/>
              </a:rPr>
              <a:t>ЧТО УЖЕ РАБОТАЕТ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A1FE16-3F36-72E8-0F5C-09E6BEA6A814}"/>
              </a:ext>
            </a:extLst>
          </p:cNvPr>
          <p:cNvSpPr txBox="1"/>
          <p:nvPr/>
        </p:nvSpPr>
        <p:spPr>
          <a:xfrm>
            <a:off x="8229600" y="2463800"/>
            <a:ext cx="304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 dirty="0">
                <a:solidFill>
                  <a:srgbClr val="FFFFFF"/>
                </a:solidFill>
                <a:latin typeface="Arial" panose="020B0604020202020204" pitchFamily="34" charset="0"/>
              </a:rPr>
              <a:t>Диалоговый учёт трат, расчёт остатка бюджета до стипендии, тестовая вставка промокода в ответ ИИ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E8EBB8-DF49-7ADF-F234-28D22DDEEF49}"/>
              </a:ext>
            </a:extLst>
          </p:cNvPr>
          <p:cNvSpPr txBox="1"/>
          <p:nvPr/>
        </p:nvSpPr>
        <p:spPr>
          <a:xfrm>
            <a:off x="8229600" y="3378200"/>
            <a:ext cx="304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7FE3C4"/>
                </a:solidFill>
                <a:latin typeface="Arial" panose="020B0604020202020204" pitchFamily="34" charset="0"/>
              </a:rPr>
              <a:t>ЧТО ПОКАЖЕМ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096BCB-59EF-F856-3055-CE5A5F7EC10A}"/>
              </a:ext>
            </a:extLst>
          </p:cNvPr>
          <p:cNvSpPr txBox="1"/>
          <p:nvPr/>
        </p:nvSpPr>
        <p:spPr>
          <a:xfrm>
            <a:off x="8229600" y="3606800"/>
            <a:ext cx="304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>
                <a:solidFill>
                  <a:srgbClr val="FFFFFF"/>
                </a:solidFill>
                <a:latin typeface="Arial" panose="020B0604020202020204" pitchFamily="34" charset="0"/>
              </a:rPr>
              <a:t>Живой диалог с ботом: студент присылает трату, бот считает бюджет и предлагает промокод партнёра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4F98D3-F880-70C0-A74F-ECBAAD1613DA}"/>
              </a:ext>
            </a:extLst>
          </p:cNvPr>
          <p:cNvSpPr txBox="1"/>
          <p:nvPr/>
        </p:nvSpPr>
        <p:spPr>
          <a:xfrm>
            <a:off x="8229600" y="4521200"/>
            <a:ext cx="304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7FE3C4"/>
                </a:solidFill>
                <a:latin typeface="Arial" panose="020B0604020202020204" pitchFamily="34" charset="0"/>
              </a:rPr>
              <a:t>СЦЕНАРИЙ ВЖИВУЮ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55D7719-9690-932A-E36A-42C4FD4BB9AA}"/>
              </a:ext>
            </a:extLst>
          </p:cNvPr>
          <p:cNvSpPr txBox="1"/>
          <p:nvPr/>
        </p:nvSpPr>
        <p:spPr>
          <a:xfrm>
            <a:off x="8229600" y="4749800"/>
            <a:ext cx="304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>
                <a:solidFill>
                  <a:srgbClr val="FFFFFF"/>
                </a:solidFill>
                <a:latin typeface="Arial" panose="020B0604020202020204" pitchFamily="34" charset="0"/>
              </a:rPr>
              <a:t>Заходим в Telegram, присылаем боту реальную трату, показываем обновлённый бюджет и промокод в ответе</a:t>
            </a:r>
          </a:p>
        </p:txBody>
      </p:sp>
      <p:sp>
        <p:nvSpPr>
          <p:cNvPr id="48" name="Прямоугольник: скругленные углы 47">
            <a:extLst>
              <a:ext uri="{FF2B5EF4-FFF2-40B4-BE49-F238E27FC236}">
                <a16:creationId xmlns:a16="http://schemas.microsoft.com/office/drawing/2014/main" id="{8321921D-9068-76D3-6D1B-DB5F309F73C2}"/>
              </a:ext>
            </a:extLst>
          </p:cNvPr>
          <p:cNvSpPr/>
          <p:nvPr/>
        </p:nvSpPr>
        <p:spPr>
          <a:xfrm>
            <a:off x="609600" y="6019800"/>
            <a:ext cx="10972800" cy="482600"/>
          </a:xfrm>
          <a:prstGeom prst="roundRect">
            <a:avLst>
              <a:gd name="adj" fmla="val 50000"/>
            </a:avLst>
          </a:prstGeom>
          <a:solidFill>
            <a:srgbClr val="E6F6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8983F9F-D7B4-3568-1FDA-6A4A7C545B36}"/>
              </a:ext>
            </a:extLst>
          </p:cNvPr>
          <p:cNvSpPr txBox="1"/>
          <p:nvPr/>
        </p:nvSpPr>
        <p:spPr>
          <a:xfrm>
            <a:off x="838200" y="61722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00">
                <a:solidFill>
                  <a:srgbClr val="22A889"/>
                </a:solidFill>
                <a:latin typeface="Arial" panose="020B0604020202020204" pitchFamily="34" charset="0"/>
              </a:rPr>
              <a:t>ПРИМЕЧАНИЕ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EBA0999-4ADB-848C-B1CC-C0EB64840A07}"/>
              </a:ext>
            </a:extLst>
          </p:cNvPr>
          <p:cNvSpPr txBox="1"/>
          <p:nvPr/>
        </p:nvSpPr>
        <p:spPr>
          <a:xfrm>
            <a:off x="2006600" y="6134100"/>
            <a:ext cx="9398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150">
                <a:solidFill>
                  <a:srgbClr val="35425F"/>
                </a:solidFill>
                <a:latin typeface="Arial" panose="020B0604020202020204" pitchFamily="34" charset="0"/>
              </a:rPr>
              <a:t>Прототип: диалоговый учёт трат и тестовая вставка промокода в ответ ИИ.</a:t>
            </a:r>
          </a:p>
        </p:txBody>
      </p:sp>
      <p:pic>
        <p:nvPicPr>
          <p:cNvPr id="38" name="20260926-2007-325754805_WoFiEGOU">
            <a:hlinkClick r:id="" action="ppaction://media"/>
            <a:extLst>
              <a:ext uri="{FF2B5EF4-FFF2-40B4-BE49-F238E27FC236}">
                <a16:creationId xmlns:a16="http://schemas.microsoft.com/office/drawing/2014/main" id="{B447E6B9-30CF-4748-8277-8915A16DBEE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90880" y="1272727"/>
            <a:ext cx="6827520" cy="4562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851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2034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63C7C5-F112-A241-5555-A9972866D94D}"/>
              </a:ext>
            </a:extLst>
          </p:cNvPr>
          <p:cNvSpPr txBox="1"/>
          <p:nvPr/>
        </p:nvSpPr>
        <p:spPr>
          <a:xfrm>
            <a:off x="609600" y="330200"/>
            <a:ext cx="762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20">
                <a:solidFill>
                  <a:srgbClr val="6B7892"/>
                </a:solidFill>
                <a:latin typeface="Arial" panose="020B0604020202020204" pitchFamily="34" charset="0"/>
              </a:rPr>
              <a:t>СТАРТАП-ХАКАТОН «ПЯТЫЙ ЭЛЕМЕНТ»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057A4F-FFC5-0531-4AA1-25362CF2F00C}"/>
              </a:ext>
            </a:extLst>
          </p:cNvPr>
          <p:cNvSpPr txBox="1"/>
          <p:nvPr/>
        </p:nvSpPr>
        <p:spPr>
          <a:xfrm>
            <a:off x="10160000" y="330200"/>
            <a:ext cx="1422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900" b="1" spc="100" dirty="0">
                <a:solidFill>
                  <a:srgbClr val="6B7892"/>
                </a:solidFill>
                <a:latin typeface="Arial" panose="020B0604020202020204" pitchFamily="34" charset="0"/>
              </a:rPr>
              <a:t>11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CD72CB44-DBCA-627A-3ECD-26C504121302}"/>
              </a:ext>
            </a:extLst>
          </p:cNvPr>
          <p:cNvGrpSpPr/>
          <p:nvPr/>
        </p:nvGrpSpPr>
        <p:grpSpPr>
          <a:xfrm>
            <a:off x="11353800" y="558800"/>
            <a:ext cx="231140" cy="195580"/>
            <a:chOff x="11353800" y="5588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DACF34C2-D1B4-9836-CF8A-D877CA27575F}"/>
                </a:ext>
              </a:extLst>
            </p:cNvPr>
            <p:cNvSpPr/>
            <p:nvPr/>
          </p:nvSpPr>
          <p:spPr>
            <a:xfrm>
              <a:off x="1138936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E3DB0D1-4317-1EB8-9D87-AA8E74AECE58}"/>
                </a:ext>
              </a:extLst>
            </p:cNvPr>
            <p:cNvSpPr/>
            <p:nvPr/>
          </p:nvSpPr>
          <p:spPr>
            <a:xfrm>
              <a:off x="114071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5F03C2C8-B464-ABE3-3804-7E306DB4D808}"/>
                </a:ext>
              </a:extLst>
            </p:cNvPr>
            <p:cNvSpPr/>
            <p:nvPr/>
          </p:nvSpPr>
          <p:spPr>
            <a:xfrm>
              <a:off x="114249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62689A18-A8BD-5F85-C350-770D38DFDF60}"/>
                </a:ext>
              </a:extLst>
            </p:cNvPr>
            <p:cNvSpPr/>
            <p:nvPr/>
          </p:nvSpPr>
          <p:spPr>
            <a:xfrm>
              <a:off x="1149604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1E75A7A9-BA9F-7300-AC15-2AE5737F3D5D}"/>
                </a:ext>
              </a:extLst>
            </p:cNvPr>
            <p:cNvSpPr/>
            <p:nvPr/>
          </p:nvSpPr>
          <p:spPr>
            <a:xfrm>
              <a:off x="1151382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EF7ED531-5407-5F75-B6FD-A9455442BE61}"/>
                </a:ext>
              </a:extLst>
            </p:cNvPr>
            <p:cNvSpPr/>
            <p:nvPr/>
          </p:nvSpPr>
          <p:spPr>
            <a:xfrm>
              <a:off x="11531600" y="55880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0E74FF39-FE56-18EC-28B5-4A1900D72D42}"/>
                </a:ext>
              </a:extLst>
            </p:cNvPr>
            <p:cNvSpPr/>
            <p:nvPr/>
          </p:nvSpPr>
          <p:spPr>
            <a:xfrm>
              <a:off x="113715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3CCCBF7B-A2D3-B372-2F50-2A8E5AA9F88B}"/>
                </a:ext>
              </a:extLst>
            </p:cNvPr>
            <p:cNvSpPr/>
            <p:nvPr/>
          </p:nvSpPr>
          <p:spPr>
            <a:xfrm>
              <a:off x="1144270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99DA643B-33CB-EA2F-7E8D-5B8EC797D4FF}"/>
                </a:ext>
              </a:extLst>
            </p:cNvPr>
            <p:cNvSpPr/>
            <p:nvPr/>
          </p:nvSpPr>
          <p:spPr>
            <a:xfrm>
              <a:off x="11478260" y="5765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5453158D-4AA3-0E95-5889-07E88E0860BD}"/>
                </a:ext>
              </a:extLst>
            </p:cNvPr>
            <p:cNvSpPr/>
            <p:nvPr/>
          </p:nvSpPr>
          <p:spPr>
            <a:xfrm>
              <a:off x="11549380" y="57658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2075B89D-0A53-190A-B764-C34C241C04DB}"/>
                </a:ext>
              </a:extLst>
            </p:cNvPr>
            <p:cNvSpPr/>
            <p:nvPr/>
          </p:nvSpPr>
          <p:spPr>
            <a:xfrm>
              <a:off x="1135380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6E740332-4E8D-6217-99D2-C72C1101A4B4}"/>
                </a:ext>
              </a:extLst>
            </p:cNvPr>
            <p:cNvSpPr/>
            <p:nvPr/>
          </p:nvSpPr>
          <p:spPr>
            <a:xfrm>
              <a:off x="11460480" y="59436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F95514AB-DA45-AC4B-83BB-7049037B300D}"/>
                </a:ext>
              </a:extLst>
            </p:cNvPr>
            <p:cNvSpPr/>
            <p:nvPr/>
          </p:nvSpPr>
          <p:spPr>
            <a:xfrm>
              <a:off x="11567160" y="5943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DC9D1794-E6EA-BE16-F559-20DC4F68D37C}"/>
                </a:ext>
              </a:extLst>
            </p:cNvPr>
            <p:cNvSpPr/>
            <p:nvPr/>
          </p:nvSpPr>
          <p:spPr>
            <a:xfrm>
              <a:off x="1135380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DEB048D5-3BB3-F546-4FD5-EFD68169E17D}"/>
                </a:ext>
              </a:extLst>
            </p:cNvPr>
            <p:cNvSpPr/>
            <p:nvPr/>
          </p:nvSpPr>
          <p:spPr>
            <a:xfrm>
              <a:off x="11567160" y="6121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F655959D-B556-8E3A-EAE1-26441E39BCE0}"/>
                </a:ext>
              </a:extLst>
            </p:cNvPr>
            <p:cNvSpPr/>
            <p:nvPr/>
          </p:nvSpPr>
          <p:spPr>
            <a:xfrm>
              <a:off x="1135380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C1CA9D4B-4C85-A36B-6140-D126A6E36C94}"/>
                </a:ext>
              </a:extLst>
            </p:cNvPr>
            <p:cNvSpPr/>
            <p:nvPr/>
          </p:nvSpPr>
          <p:spPr>
            <a:xfrm>
              <a:off x="11567160" y="6299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382C7C1B-F4AE-5BE5-E24D-BE1A71D88E57}"/>
                </a:ext>
              </a:extLst>
            </p:cNvPr>
            <p:cNvSpPr/>
            <p:nvPr/>
          </p:nvSpPr>
          <p:spPr>
            <a:xfrm>
              <a:off x="113715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96D0FE89-E0A7-D1DF-6CFC-40163D230113}"/>
                </a:ext>
              </a:extLst>
            </p:cNvPr>
            <p:cNvSpPr/>
            <p:nvPr/>
          </p:nvSpPr>
          <p:spPr>
            <a:xfrm>
              <a:off x="11549380" y="6477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62D1D948-A0B7-7356-2057-716CAD2BC2A2}"/>
                </a:ext>
              </a:extLst>
            </p:cNvPr>
            <p:cNvSpPr/>
            <p:nvPr/>
          </p:nvSpPr>
          <p:spPr>
            <a:xfrm>
              <a:off x="1138936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4FBD34DD-523E-1972-4FC0-96A2D5C1D3E5}"/>
                </a:ext>
              </a:extLst>
            </p:cNvPr>
            <p:cNvSpPr/>
            <p:nvPr/>
          </p:nvSpPr>
          <p:spPr>
            <a:xfrm>
              <a:off x="11531600" y="66548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2AE3E6BB-ED01-DA81-D7C3-1CFB4FB5AA82}"/>
                </a:ext>
              </a:extLst>
            </p:cNvPr>
            <p:cNvSpPr/>
            <p:nvPr/>
          </p:nvSpPr>
          <p:spPr>
            <a:xfrm>
              <a:off x="1140714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BB6E3A25-CE80-CA94-B735-114B17376867}"/>
                </a:ext>
              </a:extLst>
            </p:cNvPr>
            <p:cNvSpPr/>
            <p:nvPr/>
          </p:nvSpPr>
          <p:spPr>
            <a:xfrm>
              <a:off x="11513820" y="68326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C44B231D-2F79-EEC3-FDF0-4B5CBE08CD90}"/>
                </a:ext>
              </a:extLst>
            </p:cNvPr>
            <p:cNvSpPr/>
            <p:nvPr/>
          </p:nvSpPr>
          <p:spPr>
            <a:xfrm>
              <a:off x="1142492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7F791778-8DF6-41F9-3372-1DE070DAC782}"/>
                </a:ext>
              </a:extLst>
            </p:cNvPr>
            <p:cNvSpPr/>
            <p:nvPr/>
          </p:nvSpPr>
          <p:spPr>
            <a:xfrm>
              <a:off x="11496040" y="70104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3C474C6F-85D8-C3A1-5B65-AC3470692380}"/>
                </a:ext>
              </a:extLst>
            </p:cNvPr>
            <p:cNvSpPr/>
            <p:nvPr/>
          </p:nvSpPr>
          <p:spPr>
            <a:xfrm>
              <a:off x="1144270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D556F8C2-7A93-3C60-6261-A119BA05B2D0}"/>
                </a:ext>
              </a:extLst>
            </p:cNvPr>
            <p:cNvSpPr/>
            <p:nvPr/>
          </p:nvSpPr>
          <p:spPr>
            <a:xfrm>
              <a:off x="11478260" y="718820"/>
              <a:ext cx="17780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47695848-2C3B-5FDC-EA20-A1BF5BF9EB7D}"/>
                </a:ext>
              </a:extLst>
            </p:cNvPr>
            <p:cNvSpPr/>
            <p:nvPr/>
          </p:nvSpPr>
          <p:spPr>
            <a:xfrm>
              <a:off x="11460480" y="736600"/>
              <a:ext cx="17781" cy="17780"/>
            </a:xfrm>
            <a:prstGeom prst="rect">
              <a:avLst/>
            </a:prstGeom>
            <a:solidFill>
              <a:srgbClr val="22A889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0EB5353-F6CE-0869-F7DA-127DD7F8B113}"/>
              </a:ext>
            </a:extLst>
          </p:cNvPr>
          <p:cNvSpPr txBox="1"/>
          <p:nvPr/>
        </p:nvSpPr>
        <p:spPr>
          <a:xfrm>
            <a:off x="609600" y="584200"/>
            <a:ext cx="1041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000">
                <a:solidFill>
                  <a:srgbClr val="0F1B3D"/>
                </a:solidFill>
                <a:latin typeface="Arial Black" panose="020B0A04020102020204" pitchFamily="34" charset="0"/>
              </a:rPr>
              <a:t>Развитие проекта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96279473-B2B8-D7B5-1FCA-76C6A21C6332}"/>
              </a:ext>
            </a:extLst>
          </p:cNvPr>
          <p:cNvCxnSpPr/>
          <p:nvPr/>
        </p:nvCxnSpPr>
        <p:spPr>
          <a:xfrm>
            <a:off x="889000" y="1905000"/>
            <a:ext cx="10414000" cy="0"/>
          </a:xfrm>
          <a:prstGeom prst="line">
            <a:avLst/>
          </a:prstGeom>
          <a:ln w="25400">
            <a:solidFill>
              <a:srgbClr val="DC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Овал 34">
            <a:extLst>
              <a:ext uri="{FF2B5EF4-FFF2-40B4-BE49-F238E27FC236}">
                <a16:creationId xmlns:a16="http://schemas.microsoft.com/office/drawing/2014/main" id="{3BBDDE2D-D02D-BBAE-4CF7-70F759715D79}"/>
              </a:ext>
            </a:extLst>
          </p:cNvPr>
          <p:cNvSpPr/>
          <p:nvPr/>
        </p:nvSpPr>
        <p:spPr>
          <a:xfrm>
            <a:off x="863600" y="1778000"/>
            <a:ext cx="254000" cy="254000"/>
          </a:xfrm>
          <a:prstGeom prst="ellipse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4E202490-797A-8B50-DE75-671C4A43B7FD}"/>
              </a:ext>
            </a:extLst>
          </p:cNvPr>
          <p:cNvSpPr/>
          <p:nvPr/>
        </p:nvSpPr>
        <p:spPr>
          <a:xfrm>
            <a:off x="609600" y="2286000"/>
            <a:ext cx="3521710" cy="3479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1C3D01-4565-CC40-1A1D-6E905D29A9AA}"/>
              </a:ext>
            </a:extLst>
          </p:cNvPr>
          <p:cNvSpPr txBox="1"/>
          <p:nvPr/>
        </p:nvSpPr>
        <p:spPr>
          <a:xfrm>
            <a:off x="889000" y="2565400"/>
            <a:ext cx="296291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 b="1" spc="150">
                <a:solidFill>
                  <a:srgbClr val="22A889"/>
                </a:solidFill>
                <a:latin typeface="Arial" panose="020B0604020202020204" pitchFamily="34" charset="0"/>
              </a:rPr>
              <a:t>01 · ХАКАТОН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D8A359-52A2-D002-4C89-698F59764DB7}"/>
              </a:ext>
            </a:extLst>
          </p:cNvPr>
          <p:cNvSpPr txBox="1"/>
          <p:nvPr/>
        </p:nvSpPr>
        <p:spPr>
          <a:xfrm>
            <a:off x="889000" y="2946400"/>
            <a:ext cx="296291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0F1B3D"/>
                </a:solidFill>
                <a:latin typeface="Arial" panose="020B0604020202020204" pitchFamily="34" charset="0"/>
              </a:rPr>
              <a:t>MVP</a:t>
            </a:r>
            <a:endParaRPr lang="ru-RU" b="1">
              <a:solidFill>
                <a:srgbClr val="0F1B3D"/>
              </a:solidFill>
              <a:latin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6B724A-0803-6903-B2FA-805287FBEC62}"/>
              </a:ext>
            </a:extLst>
          </p:cNvPr>
          <p:cNvSpPr txBox="1"/>
          <p:nvPr/>
        </p:nvSpPr>
        <p:spPr>
          <a:xfrm>
            <a:off x="889000" y="3810000"/>
            <a:ext cx="29629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50">
                <a:solidFill>
                  <a:srgbClr val="6B7892"/>
                </a:solidFill>
                <a:latin typeface="Arial" panose="020B0604020202020204" pitchFamily="34" charset="0"/>
              </a:rPr>
              <a:t>Диалоговый учёт трат, расчёт бюджета до стипендии, тестовая вставка промокода в ответ ИИ — уже работает</a:t>
            </a:r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903968FD-882B-E7D6-11F8-2F37A233B2F5}"/>
              </a:ext>
            </a:extLst>
          </p:cNvPr>
          <p:cNvSpPr/>
          <p:nvPr/>
        </p:nvSpPr>
        <p:spPr>
          <a:xfrm>
            <a:off x="4588510" y="1778000"/>
            <a:ext cx="254000" cy="254000"/>
          </a:xfrm>
          <a:prstGeom prst="ellipse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680C7A71-F7E4-FD06-CC74-B19745CE15DC}"/>
              </a:ext>
            </a:extLst>
          </p:cNvPr>
          <p:cNvSpPr/>
          <p:nvPr/>
        </p:nvSpPr>
        <p:spPr>
          <a:xfrm>
            <a:off x="4334510" y="2286000"/>
            <a:ext cx="3521710" cy="3479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2FABF28-7B82-8842-4F45-E6B40DC12AC5}"/>
              </a:ext>
            </a:extLst>
          </p:cNvPr>
          <p:cNvSpPr txBox="1"/>
          <p:nvPr/>
        </p:nvSpPr>
        <p:spPr>
          <a:xfrm>
            <a:off x="4613910" y="2565400"/>
            <a:ext cx="296291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 b="1" spc="150">
                <a:solidFill>
                  <a:srgbClr val="22A889"/>
                </a:solidFill>
                <a:latin typeface="Arial" panose="020B0604020202020204" pitchFamily="34" charset="0"/>
              </a:rPr>
              <a:t>02 · БЛИЖАЙШИЙ ЭТАП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069D35-8C66-02ED-750A-40AD0E43632A}"/>
              </a:ext>
            </a:extLst>
          </p:cNvPr>
          <p:cNvSpPr txBox="1"/>
          <p:nvPr/>
        </p:nvSpPr>
        <p:spPr>
          <a:xfrm>
            <a:off x="4613910" y="2946400"/>
            <a:ext cx="296291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b="1">
                <a:solidFill>
                  <a:srgbClr val="0F1B3D"/>
                </a:solidFill>
                <a:latin typeface="Arial" panose="020B0604020202020204" pitchFamily="34" charset="0"/>
              </a:rPr>
              <a:t>Партнёры и пилот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421FBE-0DE8-BA50-AD7F-171A7115DBCF}"/>
              </a:ext>
            </a:extLst>
          </p:cNvPr>
          <p:cNvSpPr txBox="1"/>
          <p:nvPr/>
        </p:nvSpPr>
        <p:spPr>
          <a:xfrm>
            <a:off x="4613910" y="3810000"/>
            <a:ext cx="29629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50">
                <a:solidFill>
                  <a:srgbClr val="6B7892"/>
                </a:solidFill>
                <a:latin typeface="Arial" panose="020B0604020202020204" pitchFamily="34" charset="0"/>
              </a:rPr>
              <a:t>Подключаем первых партнёров, проверяем конверсию в промокоды и собираем обратную связь на пилоте среди студентов</a:t>
            </a:r>
          </a:p>
        </p:txBody>
      </p:sp>
      <p:sp>
        <p:nvSpPr>
          <p:cNvPr id="45" name="Овал 44">
            <a:extLst>
              <a:ext uri="{FF2B5EF4-FFF2-40B4-BE49-F238E27FC236}">
                <a16:creationId xmlns:a16="http://schemas.microsoft.com/office/drawing/2014/main" id="{00F86E36-DAE0-BFF2-354D-7B807A915282}"/>
              </a:ext>
            </a:extLst>
          </p:cNvPr>
          <p:cNvSpPr/>
          <p:nvPr/>
        </p:nvSpPr>
        <p:spPr>
          <a:xfrm>
            <a:off x="8313420" y="1778000"/>
            <a:ext cx="254000" cy="254000"/>
          </a:xfrm>
          <a:prstGeom prst="ellipse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21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C347244A-AC82-DC48-7311-A94C4635A6B8}"/>
              </a:ext>
            </a:extLst>
          </p:cNvPr>
          <p:cNvSpPr/>
          <p:nvPr/>
        </p:nvSpPr>
        <p:spPr>
          <a:xfrm>
            <a:off x="8059420" y="2286000"/>
            <a:ext cx="3521710" cy="3479800"/>
          </a:xfrm>
          <a:prstGeom prst="roundRect">
            <a:avLst>
              <a:gd name="adj" fmla="val 7000"/>
            </a:avLst>
          </a:prstGeom>
          <a:solidFill>
            <a:srgbClr val="F4F8FA"/>
          </a:solidFill>
          <a:ln w="9525">
            <a:solidFill>
              <a:srgbClr val="DCE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D0AC93-A645-23C6-3909-CF969B15C369}"/>
              </a:ext>
            </a:extLst>
          </p:cNvPr>
          <p:cNvSpPr txBox="1"/>
          <p:nvPr/>
        </p:nvSpPr>
        <p:spPr>
          <a:xfrm>
            <a:off x="8338820" y="2565400"/>
            <a:ext cx="296291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 b="1" spc="150">
                <a:solidFill>
                  <a:srgbClr val="22A889"/>
                </a:solidFill>
                <a:latin typeface="Arial" panose="020B0604020202020204" pitchFamily="34" charset="0"/>
              </a:rPr>
              <a:t>03 · ДАЛЬШЕ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BA285FE-1752-EF37-1BD5-E49344F109F8}"/>
              </a:ext>
            </a:extLst>
          </p:cNvPr>
          <p:cNvSpPr txBox="1"/>
          <p:nvPr/>
        </p:nvSpPr>
        <p:spPr>
          <a:xfrm>
            <a:off x="8338820" y="2946400"/>
            <a:ext cx="296291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b="1">
                <a:solidFill>
                  <a:srgbClr val="0F1B3D"/>
                </a:solidFill>
                <a:latin typeface="Arial" panose="020B0604020202020204" pitchFamily="34" charset="0"/>
              </a:rPr>
              <a:t>Масштабирование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AD3F2C1-D63A-E826-311A-F1EFF3A27F1B}"/>
              </a:ext>
            </a:extLst>
          </p:cNvPr>
          <p:cNvSpPr txBox="1"/>
          <p:nvPr/>
        </p:nvSpPr>
        <p:spPr>
          <a:xfrm>
            <a:off x="8338820" y="3810000"/>
            <a:ext cx="296291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50">
                <a:solidFill>
                  <a:srgbClr val="6B7892"/>
                </a:solidFill>
                <a:latin typeface="Arial" panose="020B0604020202020204" pitchFamily="34" charset="0"/>
              </a:rPr>
              <a:t>Каталог партнёров, персональные советы, банковские API для автосбора трат, выход на другие вузы и города</a:t>
            </a:r>
          </a:p>
        </p:txBody>
      </p:sp>
    </p:spTree>
    <p:extLst>
      <p:ext uri="{BB962C8B-B14F-4D97-AF65-F5344CB8AC3E}">
        <p14:creationId xmlns:p14="http://schemas.microsoft.com/office/powerpoint/2010/main" val="1531819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83D4B053-CF93-4E4D-8BFF-AA4815288D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5A4BB5"/>
              </a:gs>
              <a:gs pos="100000">
                <a:srgbClr val="4B8FE0"/>
              </a:gs>
              <a:gs pos="42000">
                <a:srgbClr val="4FB9A6"/>
              </a:gs>
              <a:gs pos="58000">
                <a:srgbClr val="55C9A8"/>
              </a:gs>
            </a:gsLst>
            <a:lin ang="180000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BB3B56-ACC5-250E-53C8-EF40C631D832}"/>
              </a:ext>
            </a:extLst>
          </p:cNvPr>
          <p:cNvSpPr txBox="1"/>
          <p:nvPr/>
        </p:nvSpPr>
        <p:spPr>
          <a:xfrm>
            <a:off x="609600" y="381000"/>
            <a:ext cx="508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ДЕМО И ИТОГ   ·   13 / 13</a:t>
            </a:r>
          </a:p>
        </p:txBody>
      </p:sp>
      <p:grpSp>
        <p:nvGrpSpPr>
          <p:cNvPr id="32" name="PixelHeart">
            <a:extLst>
              <a:ext uri="{FF2B5EF4-FFF2-40B4-BE49-F238E27FC236}">
                <a16:creationId xmlns:a16="http://schemas.microsoft.com/office/drawing/2014/main" id="{7349A296-9F81-A56B-1DA9-09604D220E9A}"/>
              </a:ext>
            </a:extLst>
          </p:cNvPr>
          <p:cNvGrpSpPr/>
          <p:nvPr/>
        </p:nvGrpSpPr>
        <p:grpSpPr>
          <a:xfrm>
            <a:off x="11353800" y="381000"/>
            <a:ext cx="231140" cy="195580"/>
            <a:chOff x="11353800" y="381000"/>
            <a:chExt cx="231140" cy="19558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49B7AF94-DFC6-FF6D-726E-CD589C976BBE}"/>
                </a:ext>
              </a:extLst>
            </p:cNvPr>
            <p:cNvSpPr/>
            <p:nvPr/>
          </p:nvSpPr>
          <p:spPr>
            <a:xfrm>
              <a:off x="1138936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621976D-FC1E-6A5D-B1B8-3F71DC641130}"/>
                </a:ext>
              </a:extLst>
            </p:cNvPr>
            <p:cNvSpPr/>
            <p:nvPr/>
          </p:nvSpPr>
          <p:spPr>
            <a:xfrm>
              <a:off x="1140714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A4EC5174-99A7-642D-C063-65478A67E10D}"/>
                </a:ext>
              </a:extLst>
            </p:cNvPr>
            <p:cNvSpPr/>
            <p:nvPr/>
          </p:nvSpPr>
          <p:spPr>
            <a:xfrm>
              <a:off x="1142492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93FBB3D-4148-00AE-CFAA-20B8873E5779}"/>
                </a:ext>
              </a:extLst>
            </p:cNvPr>
            <p:cNvSpPr/>
            <p:nvPr/>
          </p:nvSpPr>
          <p:spPr>
            <a:xfrm>
              <a:off x="1149604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20D6A5E9-FD67-8D6A-BB61-8C6A8EC6CC76}"/>
                </a:ext>
              </a:extLst>
            </p:cNvPr>
            <p:cNvSpPr/>
            <p:nvPr/>
          </p:nvSpPr>
          <p:spPr>
            <a:xfrm>
              <a:off x="1151382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E2E8D802-6D3E-810A-B315-11F93EFF13D9}"/>
                </a:ext>
              </a:extLst>
            </p:cNvPr>
            <p:cNvSpPr/>
            <p:nvPr/>
          </p:nvSpPr>
          <p:spPr>
            <a:xfrm>
              <a:off x="11531600" y="38100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F8B587BF-E332-2788-E727-46979D46D590}"/>
                </a:ext>
              </a:extLst>
            </p:cNvPr>
            <p:cNvSpPr/>
            <p:nvPr/>
          </p:nvSpPr>
          <p:spPr>
            <a:xfrm>
              <a:off x="11371580" y="39878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566CBE84-041A-CC16-9999-BEE9B8B88838}"/>
                </a:ext>
              </a:extLst>
            </p:cNvPr>
            <p:cNvSpPr/>
            <p:nvPr/>
          </p:nvSpPr>
          <p:spPr>
            <a:xfrm>
              <a:off x="11442700" y="39878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B53AFE4E-C62C-F38F-45DA-8B666D3E743A}"/>
                </a:ext>
              </a:extLst>
            </p:cNvPr>
            <p:cNvSpPr/>
            <p:nvPr/>
          </p:nvSpPr>
          <p:spPr>
            <a:xfrm>
              <a:off x="11478260" y="39878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270B84A8-92DE-1811-3312-340ECF1AC5A4}"/>
                </a:ext>
              </a:extLst>
            </p:cNvPr>
            <p:cNvSpPr/>
            <p:nvPr/>
          </p:nvSpPr>
          <p:spPr>
            <a:xfrm>
              <a:off x="11549380" y="39878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B04F5979-812C-9F8E-4EDF-5203C2E83669}"/>
                </a:ext>
              </a:extLst>
            </p:cNvPr>
            <p:cNvSpPr/>
            <p:nvPr/>
          </p:nvSpPr>
          <p:spPr>
            <a:xfrm>
              <a:off x="11353800" y="41656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B834610C-7E31-DB69-83D1-F00743E2F4DE}"/>
                </a:ext>
              </a:extLst>
            </p:cNvPr>
            <p:cNvSpPr/>
            <p:nvPr/>
          </p:nvSpPr>
          <p:spPr>
            <a:xfrm>
              <a:off x="11460480" y="41656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8DF7A76C-1F97-AB0F-4C80-687CBCDB2188}"/>
                </a:ext>
              </a:extLst>
            </p:cNvPr>
            <p:cNvSpPr/>
            <p:nvPr/>
          </p:nvSpPr>
          <p:spPr>
            <a:xfrm>
              <a:off x="11567160" y="41656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ADE14151-28BA-DB18-F7F8-B0B0FFC469AD}"/>
                </a:ext>
              </a:extLst>
            </p:cNvPr>
            <p:cNvSpPr/>
            <p:nvPr/>
          </p:nvSpPr>
          <p:spPr>
            <a:xfrm>
              <a:off x="11353800" y="43434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40A3E37C-6735-A0AD-0973-F9565E5DC332}"/>
                </a:ext>
              </a:extLst>
            </p:cNvPr>
            <p:cNvSpPr/>
            <p:nvPr/>
          </p:nvSpPr>
          <p:spPr>
            <a:xfrm>
              <a:off x="11567160" y="43434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3BD1CED8-919C-3F6D-9221-7A983B88C01D}"/>
                </a:ext>
              </a:extLst>
            </p:cNvPr>
            <p:cNvSpPr/>
            <p:nvPr/>
          </p:nvSpPr>
          <p:spPr>
            <a:xfrm>
              <a:off x="11353800" y="45212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4CC2210E-B005-10C5-E21D-1FB2B35EB521}"/>
                </a:ext>
              </a:extLst>
            </p:cNvPr>
            <p:cNvSpPr/>
            <p:nvPr/>
          </p:nvSpPr>
          <p:spPr>
            <a:xfrm>
              <a:off x="11567160" y="45212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3E09B1D6-4292-2364-1C62-FE93E62F5AA0}"/>
                </a:ext>
              </a:extLst>
            </p:cNvPr>
            <p:cNvSpPr/>
            <p:nvPr/>
          </p:nvSpPr>
          <p:spPr>
            <a:xfrm>
              <a:off x="11371580" y="46990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F8D48C0B-CDAD-DC15-0391-3E660F796DD3}"/>
                </a:ext>
              </a:extLst>
            </p:cNvPr>
            <p:cNvSpPr/>
            <p:nvPr/>
          </p:nvSpPr>
          <p:spPr>
            <a:xfrm>
              <a:off x="11549380" y="46990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BC132612-6BE5-7A4C-4E2E-8639464B453D}"/>
                </a:ext>
              </a:extLst>
            </p:cNvPr>
            <p:cNvSpPr/>
            <p:nvPr/>
          </p:nvSpPr>
          <p:spPr>
            <a:xfrm>
              <a:off x="11389360" y="48768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236E3073-2B60-8250-7611-00A894DEA1AC}"/>
                </a:ext>
              </a:extLst>
            </p:cNvPr>
            <p:cNvSpPr/>
            <p:nvPr/>
          </p:nvSpPr>
          <p:spPr>
            <a:xfrm>
              <a:off x="11531600" y="48768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B164DDA8-5D7F-6601-6F7A-9E3EF5FBD9FC}"/>
                </a:ext>
              </a:extLst>
            </p:cNvPr>
            <p:cNvSpPr/>
            <p:nvPr/>
          </p:nvSpPr>
          <p:spPr>
            <a:xfrm>
              <a:off x="11407140" y="50546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02274A8F-E227-4A83-A619-7B189F95F2A3}"/>
                </a:ext>
              </a:extLst>
            </p:cNvPr>
            <p:cNvSpPr/>
            <p:nvPr/>
          </p:nvSpPr>
          <p:spPr>
            <a:xfrm>
              <a:off x="11513820" y="50546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45FB34A0-B3B5-E9C4-37FC-161C48682717}"/>
                </a:ext>
              </a:extLst>
            </p:cNvPr>
            <p:cNvSpPr/>
            <p:nvPr/>
          </p:nvSpPr>
          <p:spPr>
            <a:xfrm>
              <a:off x="11424920" y="52324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3BD10591-24F1-0A44-028E-83EF0D90F950}"/>
                </a:ext>
              </a:extLst>
            </p:cNvPr>
            <p:cNvSpPr/>
            <p:nvPr/>
          </p:nvSpPr>
          <p:spPr>
            <a:xfrm>
              <a:off x="11496040" y="52324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FBC376AA-9E27-6EDC-5566-0CDD3C3AC94F}"/>
                </a:ext>
              </a:extLst>
            </p:cNvPr>
            <p:cNvSpPr/>
            <p:nvPr/>
          </p:nvSpPr>
          <p:spPr>
            <a:xfrm>
              <a:off x="11442700" y="54102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603D9F25-F3BE-4B99-8C7D-7777B031212B}"/>
                </a:ext>
              </a:extLst>
            </p:cNvPr>
            <p:cNvSpPr/>
            <p:nvPr/>
          </p:nvSpPr>
          <p:spPr>
            <a:xfrm>
              <a:off x="11478260" y="541020"/>
              <a:ext cx="17780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3AC60D43-0DA9-477E-906D-CA7191F1C980}"/>
                </a:ext>
              </a:extLst>
            </p:cNvPr>
            <p:cNvSpPr/>
            <p:nvPr/>
          </p:nvSpPr>
          <p:spPr>
            <a:xfrm>
              <a:off x="11460480" y="558800"/>
              <a:ext cx="17781" cy="1778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70C9F536-168F-D36E-CF6B-C96E33DCF5C1}"/>
              </a:ext>
            </a:extLst>
          </p:cNvPr>
          <p:cNvSpPr/>
          <p:nvPr/>
        </p:nvSpPr>
        <p:spPr>
          <a:xfrm>
            <a:off x="609600" y="812800"/>
            <a:ext cx="5334000" cy="1905000"/>
          </a:xfrm>
          <a:prstGeom prst="roundRect">
            <a:avLst>
              <a:gd name="adj" fmla="val 10000"/>
            </a:avLst>
          </a:prstGeom>
          <a:solidFill>
            <a:srgbClr val="FFFFFF">
              <a:alpha val="16000"/>
            </a:srgbClr>
          </a:solidFill>
          <a:ln w="9525" cap="flat" cmpd="sng" algn="ctr">
            <a:solidFill>
              <a:srgbClr val="FFFFFF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841CE1-D276-5F00-2456-5C100EAECAA7}"/>
              </a:ext>
            </a:extLst>
          </p:cNvPr>
          <p:cNvSpPr txBox="1"/>
          <p:nvPr/>
        </p:nvSpPr>
        <p:spPr>
          <a:xfrm>
            <a:off x="914400" y="1066800"/>
            <a:ext cx="4724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ДЕМО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9FE3A2-1542-12FA-C953-5AC6A5E531DF}"/>
              </a:ext>
            </a:extLst>
          </p:cNvPr>
          <p:cNvSpPr txBox="1"/>
          <p:nvPr/>
        </p:nvSpPr>
        <p:spPr>
          <a:xfrm>
            <a:off x="914400" y="1320800"/>
            <a:ext cx="47244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700" b="1">
                <a:solidFill>
                  <a:srgbClr val="FFFFFF"/>
                </a:solidFill>
                <a:latin typeface="Arial" panose="020B0604020202020204" pitchFamily="34" charset="0"/>
              </a:rPr>
              <a:t>Отправим боту реальную трату, покажем расчёт бюджета до стипендии и промокод, который ИИ подберёт по ситуации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1499B41-41FE-FD78-74D7-BE8E095FE5B3}"/>
              </a:ext>
            </a:extLst>
          </p:cNvPr>
          <p:cNvSpPr/>
          <p:nvPr/>
        </p:nvSpPr>
        <p:spPr>
          <a:xfrm>
            <a:off x="6248400" y="812800"/>
            <a:ext cx="5334000" cy="1905000"/>
          </a:xfrm>
          <a:prstGeom prst="roundRect">
            <a:avLst>
              <a:gd name="adj" fmla="val 10000"/>
            </a:avLst>
          </a:prstGeom>
          <a:solidFill>
            <a:srgbClr val="FFFFFF">
              <a:alpha val="16000"/>
            </a:srgbClr>
          </a:solidFill>
          <a:ln w="9525" cap="flat" cmpd="sng" algn="ctr">
            <a:solidFill>
              <a:srgbClr val="FFFFFF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FB5319-F724-977F-F91D-8FD7813302DA}"/>
              </a:ext>
            </a:extLst>
          </p:cNvPr>
          <p:cNvSpPr txBox="1"/>
          <p:nvPr/>
        </p:nvSpPr>
        <p:spPr>
          <a:xfrm>
            <a:off x="6553200" y="1066800"/>
            <a:ext cx="4724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ГЛАВНАЯ МЫСЛЬ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43675E-4B33-3568-AC61-FCCB01A9E9C9}"/>
              </a:ext>
            </a:extLst>
          </p:cNvPr>
          <p:cNvSpPr txBox="1"/>
          <p:nvPr/>
        </p:nvSpPr>
        <p:spPr>
          <a:xfrm>
            <a:off x="6553200" y="1320800"/>
            <a:ext cx="47244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700" b="1">
                <a:solidFill>
                  <a:srgbClr val="FFFFFF"/>
                </a:solidFill>
                <a:latin typeface="Arial" panose="020B0604020202020204" pitchFamily="34" charset="0"/>
              </a:rPr>
              <a:t>Финансовая грамотность студента начинается не с лекции, а с бота, который считает бюджет и экономит деньги здесь и сейчас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2D5842-5EDC-F00F-6188-651F6D1A8930}"/>
              </a:ext>
            </a:extLst>
          </p:cNvPr>
          <p:cNvSpPr txBox="1"/>
          <p:nvPr/>
        </p:nvSpPr>
        <p:spPr>
          <a:xfrm>
            <a:off x="609600" y="3327400"/>
            <a:ext cx="109728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4000">
                <a:solidFill>
                  <a:srgbClr val="FFFFFF"/>
                </a:solidFill>
                <a:latin typeface="Arial Black" panose="020B0A04020102020204" pitchFamily="34" charset="0"/>
              </a:rPr>
              <a:t>Спасибо за внимание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F9A288-DB04-463F-F2D7-B15A66481E01}"/>
              </a:ext>
            </a:extLst>
          </p:cNvPr>
          <p:cNvSpPr txBox="1"/>
          <p:nvPr/>
        </p:nvSpPr>
        <p:spPr>
          <a:xfrm>
            <a:off x="609600" y="4089400"/>
            <a:ext cx="10972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700">
                <a:solidFill>
                  <a:srgbClr val="FFFFFF"/>
                </a:solidFill>
                <a:latin typeface="Arial" panose="020B0604020202020204" pitchFamily="34" charset="0"/>
              </a:rPr>
              <a:t>Готовы показать продукт и ответить на вопросы.</a:t>
            </a:r>
          </a:p>
        </p:txBody>
      </p: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6004FAB5-B452-217D-65A2-5CDED39F0974}"/>
              </a:ext>
            </a:extLst>
          </p:cNvPr>
          <p:cNvCxnSpPr/>
          <p:nvPr/>
        </p:nvCxnSpPr>
        <p:spPr>
          <a:xfrm>
            <a:off x="609600" y="5334000"/>
            <a:ext cx="10972800" cy="0"/>
          </a:xfrm>
          <a:prstGeom prst="line">
            <a:avLst/>
          </a:prstGeom>
          <a:ln w="9525" cap="flat" cmpd="sng" algn="ctr">
            <a:solidFill>
              <a:srgbClr val="FFFFFF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022B931-FFB3-186E-74FF-087D071A117C}"/>
              </a:ext>
            </a:extLst>
          </p:cNvPr>
          <p:cNvSpPr txBox="1"/>
          <p:nvPr/>
        </p:nvSpPr>
        <p:spPr>
          <a:xfrm>
            <a:off x="609600" y="5562600"/>
            <a:ext cx="3556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 spc="150">
                <a:solidFill>
                  <a:srgbClr val="FFFFFF"/>
                </a:solidFill>
                <a:latin typeface="Arial" panose="020B0604020202020204" pitchFamily="34" charset="0"/>
              </a:rPr>
              <a:t>GITHUB</a:t>
            </a:r>
            <a:endParaRPr lang="ru-RU" sz="900" b="1" spc="15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E33332-9C32-FF39-8B48-B5284EDC9AAE}"/>
              </a:ext>
            </a:extLst>
          </p:cNvPr>
          <p:cNvSpPr txBox="1"/>
          <p:nvPr/>
        </p:nvSpPr>
        <p:spPr>
          <a:xfrm>
            <a:off x="609600" y="5791200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 b="1">
                <a:solidFill>
                  <a:srgbClr val="FFFFFF"/>
                </a:solidFill>
                <a:latin typeface="Arial" panose="020B0604020202020204" pitchFamily="34" charset="0"/>
              </a:rPr>
              <a:t>[ссылка на репозиторий]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3C234E-D325-A7F5-C621-48006AF317B4}"/>
              </a:ext>
            </a:extLst>
          </p:cNvPr>
          <p:cNvSpPr txBox="1"/>
          <p:nvPr/>
        </p:nvSpPr>
        <p:spPr>
          <a:xfrm>
            <a:off x="4419600" y="5562600"/>
            <a:ext cx="3556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КОНТАКТ КАПИТАНА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660A35-FF16-5CE1-0A9A-8888FE31EEB4}"/>
              </a:ext>
            </a:extLst>
          </p:cNvPr>
          <p:cNvSpPr txBox="1"/>
          <p:nvPr/>
        </p:nvSpPr>
        <p:spPr>
          <a:xfrm>
            <a:off x="4419600" y="5791200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 b="1" dirty="0">
                <a:solidFill>
                  <a:srgbClr val="FFFFFF"/>
                </a:solidFill>
                <a:latin typeface="Arial" panose="020B0604020202020204" pitchFamily="34" charset="0"/>
              </a:rPr>
              <a:t>[</a:t>
            </a:r>
            <a:r>
              <a:rPr lang="ru-RU" sz="1500" b="1" dirty="0" err="1">
                <a:solidFill>
                  <a:srgbClr val="FFFFFF"/>
                </a:solidFill>
                <a:latin typeface="Arial" panose="020B0604020202020204" pitchFamily="34" charset="0"/>
              </a:rPr>
              <a:t>тг</a:t>
            </a:r>
            <a:r>
              <a:rPr lang="ru-RU" sz="1500" b="1" dirty="0">
                <a:solidFill>
                  <a:srgbClr val="FFFFFF"/>
                </a:solidFill>
                <a:latin typeface="Arial" panose="020B0604020202020204" pitchFamily="34" charset="0"/>
              </a:rPr>
              <a:t>: </a:t>
            </a: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</a:rPr>
              <a:t>@Darg_Vet]</a:t>
            </a:r>
            <a:endParaRPr lang="ru-RU" sz="15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4A8F26D-5073-2CB1-A055-7C11DCEBA763}"/>
              </a:ext>
            </a:extLst>
          </p:cNvPr>
          <p:cNvSpPr txBox="1"/>
          <p:nvPr/>
        </p:nvSpPr>
        <p:spPr>
          <a:xfrm>
            <a:off x="8229600" y="5562600"/>
            <a:ext cx="3556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00" b="1" spc="150">
                <a:solidFill>
                  <a:srgbClr val="FFFFFF"/>
                </a:solidFill>
                <a:latin typeface="Arial" panose="020B0604020202020204" pitchFamily="34" charset="0"/>
              </a:rPr>
              <a:t>КОМАНДА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DA0842-E91F-4FAA-A543-BAA6D618D86B}"/>
              </a:ext>
            </a:extLst>
          </p:cNvPr>
          <p:cNvSpPr txBox="1"/>
          <p:nvPr/>
        </p:nvSpPr>
        <p:spPr>
          <a:xfrm>
            <a:off x="8229600" y="5791200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00" b="1" dirty="0">
                <a:solidFill>
                  <a:srgbClr val="FFFFFF"/>
                </a:solidFill>
                <a:latin typeface="Arial" panose="020B0604020202020204" pitchFamily="34" charset="0"/>
              </a:rPr>
              <a:t>Тормозок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6A2864A-8291-0FCD-87F7-6AD29F689E90}"/>
              </a:ext>
            </a:extLst>
          </p:cNvPr>
          <p:cNvSpPr txBox="1"/>
          <p:nvPr/>
        </p:nvSpPr>
        <p:spPr>
          <a:xfrm>
            <a:off x="609600" y="63500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000">
                <a:solidFill>
                  <a:srgbClr val="FFFFFF"/>
                </a:solidFill>
                <a:latin typeface="Arial" panose="020B0604020202020204" pitchFamily="34" charset="0"/>
              </a:rPr>
              <a:t>Стартап-хакатон «Пятый элемент» 2026 · 26–27 сентября · СФУ</a:t>
            </a:r>
          </a:p>
        </p:txBody>
      </p:sp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21040246-9F45-5F25-1BED-63715E06DA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240" y="73047"/>
            <a:ext cx="6595920" cy="687026"/>
          </a:xfrm>
          <a:prstGeom prst="rect">
            <a:avLst/>
          </a:prstGeom>
        </p:spPr>
      </p:pic>
      <p:sp>
        <p:nvSpPr>
          <p:cNvPr id="9101" name="QR shape 9101"/>
          <p:cNvSpPr/>
          <p:nvPr/>
        </p:nvSpPr>
        <p:spPr>
          <a:xfrm>
            <a:off x="9300000" y="3227400"/>
            <a:ext cx="2000000" cy="20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prstDash val="dash"/>
          </a:ln>
        </p:spPr>
        <p:txBody>
          <a:bodyPr wrap="square" lIns="91440" tIns="45720" rIns="91440" bIns="45720" anchor="ctr"/>
          <a:lstStyle/>
          <a:p>
            <a:pPr algn="ctr"/>
            <a:r>
              <a:rPr lang="ru-RU" sz="1600" b="1" dirty="0">
                <a:solidFill>
                  <a:srgbClr val="0F1B3D"/>
                </a:solidFill>
                <a:latin typeface="Arial"/>
              </a:rPr>
              <a:t>QR-код</a:t>
            </a:r>
          </a:p>
          <a:p>
            <a:pPr algn="ctr"/>
            <a:r>
              <a:rPr lang="ru-RU" sz="1200" dirty="0" err="1">
                <a:solidFill>
                  <a:srgbClr val="4B4B66"/>
                </a:solidFill>
                <a:latin typeface="Arial"/>
              </a:rPr>
              <a:t>Telegram</a:t>
            </a:r>
            <a:r>
              <a:rPr lang="ru-RU" sz="1200" dirty="0">
                <a:solidFill>
                  <a:srgbClr val="4B4B66"/>
                </a:solidFill>
                <a:latin typeface="Arial"/>
              </a:rPr>
              <a:t>-бота</a:t>
            </a:r>
          </a:p>
          <a:p>
            <a:pPr algn="ctr"/>
            <a:r>
              <a:rPr lang="ru-RU" sz="1000" dirty="0">
                <a:solidFill>
                  <a:srgbClr val="9AA0B4"/>
                </a:solidFill>
                <a:latin typeface="Arial"/>
              </a:rPr>
              <a:t>вставьте сюда</a:t>
            </a:r>
          </a:p>
        </p:txBody>
      </p:sp>
      <p:sp>
        <p:nvSpPr>
          <p:cNvPr id="9102" name="QR shape 9102"/>
          <p:cNvSpPr/>
          <p:nvPr/>
        </p:nvSpPr>
        <p:spPr>
          <a:xfrm>
            <a:off x="9200000" y="5347400"/>
            <a:ext cx="2300000" cy="400000"/>
          </a:xfrm>
          <a:prstGeom prst="roundRect">
            <a:avLst>
              <a:gd name="adj" fmla="val 7000"/>
            </a:avLst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ru-RU" sz="1100">
                <a:solidFill>
                  <a:srgbClr val="FFFFFF"/>
                </a:solidFill>
                <a:latin typeface="Arial"/>
              </a:rPr>
              <a:t>Отсканируйте, чтобы открыть бота</a:t>
            </a: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A2B53F59-1BEC-4901-8E2A-4BB4FEC90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865" y="2798731"/>
            <a:ext cx="2507395" cy="247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6703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1224</Words>
  <Application>Microsoft Office PowerPoint</Application>
  <PresentationFormat>Широкоэкранный</PresentationFormat>
  <Paragraphs>195</Paragraphs>
  <Slides>12</Slides>
  <Notes>12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Arial Black</vt:lpstr>
      <vt:lpstr>Plus Jakarta Sans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Илья Гурбатов</dc:creator>
  <cp:lastModifiedBy>Арсен</cp:lastModifiedBy>
  <cp:revision>8</cp:revision>
  <dcterms:created xsi:type="dcterms:W3CDTF">2026-09-26T12:28:36Z</dcterms:created>
  <dcterms:modified xsi:type="dcterms:W3CDTF">2026-09-27T03:31:17Z</dcterms:modified>
</cp:coreProperties>
</file>